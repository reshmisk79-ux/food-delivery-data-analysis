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2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270" r:id="rId51"/>
    <p:sldId id="309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7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214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01B8AA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1B8AA"/>
              </a:solidFill>
              <a:ln w="9525" cap="flat">
                <a:solidFill>
                  <a:srgbClr val="01B8AA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2156</c:v>
                </c:pt>
                <c:pt idx="1">
                  <c:v>2628</c:v>
                </c:pt>
                <c:pt idx="2">
                  <c:v>2068</c:v>
                </c:pt>
                <c:pt idx="3">
                  <c:v>1864</c:v>
                </c:pt>
                <c:pt idx="4">
                  <c:v>2949</c:v>
                </c:pt>
                <c:pt idx="5">
                  <c:v>2560</c:v>
                </c:pt>
                <c:pt idx="6">
                  <c:v>2159</c:v>
                </c:pt>
                <c:pt idx="7">
                  <c:v>2715</c:v>
                </c:pt>
                <c:pt idx="8">
                  <c:v>2984</c:v>
                </c:pt>
                <c:pt idx="9">
                  <c:v>1945</c:v>
                </c:pt>
                <c:pt idx="10">
                  <c:v>2731</c:v>
                </c:pt>
                <c:pt idx="11">
                  <c:v>1728</c:v>
                </c:pt>
                <c:pt idx="12">
                  <c:v>1693</c:v>
                </c:pt>
                <c:pt idx="13">
                  <c:v>2304</c:v>
                </c:pt>
                <c:pt idx="14">
                  <c:v>2877</c:v>
                </c:pt>
                <c:pt idx="15">
                  <c:v>2106</c:v>
                </c:pt>
                <c:pt idx="16">
                  <c:v>2759</c:v>
                </c:pt>
                <c:pt idx="17">
                  <c:v>2931</c:v>
                </c:pt>
                <c:pt idx="18">
                  <c:v>2549</c:v>
                </c:pt>
                <c:pt idx="19">
                  <c:v>3145</c:v>
                </c:pt>
                <c:pt idx="20">
                  <c:v>2451</c:v>
                </c:pt>
                <c:pt idx="21">
                  <c:v>2886</c:v>
                </c:pt>
                <c:pt idx="22">
                  <c:v>3300</c:v>
                </c:pt>
                <c:pt idx="23">
                  <c:v>2285</c:v>
                </c:pt>
                <c:pt idx="24">
                  <c:v>2446</c:v>
                </c:pt>
                <c:pt idx="25">
                  <c:v>2072</c:v>
                </c:pt>
                <c:pt idx="26">
                  <c:v>2209</c:v>
                </c:pt>
                <c:pt idx="27">
                  <c:v>2341</c:v>
                </c:pt>
                <c:pt idx="28">
                  <c:v>2725</c:v>
                </c:pt>
                <c:pt idx="29">
                  <c:v>2300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DF-4786-A500-ED7479D250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1DF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B8A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9-4BC1-A5C2-B7D0ED02A3B3}"/>
              </c:ext>
            </c:extLst>
          </c:dPt>
          <c:dPt>
            <c:idx val="1"/>
            <c:bubble3D val="0"/>
            <c:spPr>
              <a:solidFill>
                <a:srgbClr val="F2C81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9-4BC1-A5C2-B7D0ED02A3B3}"/>
              </c:ext>
            </c:extLst>
          </c:dPt>
          <c:dPt>
            <c:idx val="2"/>
            <c:bubble3D val="0"/>
            <c:spPr>
              <a:solidFill>
                <a:srgbClr val="8AD4E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9-4BC1-A5C2-B7D0ED02A3B3}"/>
              </c:ext>
            </c:extLst>
          </c:dPt>
          <c:dPt>
            <c:idx val="3"/>
            <c:bubble3D val="0"/>
            <c:spPr>
              <a:solidFill>
                <a:srgbClr val="FE966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AD9-4BC1-A5C2-B7D0ED02A3B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52423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D9-4BC1-A5C2-B7D0ED02A3B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52423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D9-4BC1-A5C2-B7D0ED02A3B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52423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D9-4BC1-A5C2-B7D0ED02A3B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52423"/>
                      </a:solidFill>
                      <a:latin typeface="+mn-lt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AD9-4BC1-A5C2-B7D0ED02A3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City A</c:v>
                </c:pt>
                <c:pt idx="1">
                  <c:v>City B</c:v>
                </c:pt>
                <c:pt idx="2">
                  <c:v>City C</c:v>
                </c:pt>
                <c:pt idx="3">
                  <c:v>City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27.29</c:v>
                </c:pt>
                <c:pt idx="1">
                  <c:v>26.18</c:v>
                </c:pt>
                <c:pt idx="2">
                  <c:v>12.03</c:v>
                </c:pt>
                <c:pt idx="3">
                  <c:v>8.3699999999999992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D9-4BC1-A5C2-B7D0ED02A3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05E5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1C3-4F97-B7CD-63B756ADEBA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C3-4F97-B7CD-63B756ADEBA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51C3-4F97-B7CD-63B756ADEBA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1C3-4F97-B7CD-63B756ADEBA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City A</c:v>
                </c:pt>
                <c:pt idx="1">
                  <c:v>City B</c:v>
                </c:pt>
                <c:pt idx="2">
                  <c:v>City C</c:v>
                </c:pt>
                <c:pt idx="3">
                  <c:v>City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35.9</c:v>
                </c:pt>
                <c:pt idx="1">
                  <c:v>41.96</c:v>
                </c:pt>
                <c:pt idx="2">
                  <c:v>32.24</c:v>
                </c:pt>
                <c:pt idx="3">
                  <c:v>39.86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1C3-4F97-B7CD-63B756ADEB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3C2-43C2-8460-8B765BF4C8D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C2-43C2-8460-8B765BF4C8D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3C2-43C2-8460-8B765BF4C8D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3C2-43C2-8460-8B765BF4C8DE}"/>
              </c:ext>
            </c:extLst>
          </c:dPt>
          <c:dLbls>
            <c:numFmt formatCode="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Fast Food</c:v>
                </c:pt>
                <c:pt idx="1">
                  <c:v>Casual Dining</c:v>
                </c:pt>
                <c:pt idx="2">
                  <c:v>Cafe</c:v>
                </c:pt>
                <c:pt idx="3">
                  <c:v>Fine Dining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36.81</c:v>
                </c:pt>
                <c:pt idx="1">
                  <c:v>24.32</c:v>
                </c:pt>
                <c:pt idx="2">
                  <c:v>6.99</c:v>
                </c:pt>
                <c:pt idx="3">
                  <c:v>5.75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C2-43C2-8460-8B765BF4C8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</c:v>
                </c:pt>
              </c:strCache>
            </c:strRef>
          </c:tx>
          <c:spPr>
            <a:solidFill>
              <a:srgbClr val="F2C8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E68-4AF5-94D5-50A0B29DC8A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E68-4AF5-94D5-50A0B29DC8A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8E68-4AF5-94D5-50A0B29DC8A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68-4AF5-94D5-50A0B29DC8A0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Fast Food</c:v>
                </c:pt>
                <c:pt idx="1">
                  <c:v>Casual Dining</c:v>
                </c:pt>
                <c:pt idx="2">
                  <c:v>Cafe</c:v>
                </c:pt>
                <c:pt idx="3">
                  <c:v>Fine Dining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32.72</c:v>
                </c:pt>
                <c:pt idx="1">
                  <c:v>50.34</c:v>
                </c:pt>
                <c:pt idx="2">
                  <c:v>22.83</c:v>
                </c:pt>
                <c:pt idx="3">
                  <c:v>108.49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E68-4AF5-94D5-50A0B29DC8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(K)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Lbls>
            <c:numFmt formatCode="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Burger</c:v>
                </c:pt>
                <c:pt idx="1">
                  <c:v>Local</c:v>
                </c:pt>
                <c:pt idx="2">
                  <c:v>Dessert</c:v>
                </c:pt>
                <c:pt idx="3">
                  <c:v>Pizza</c:v>
                </c:pt>
                <c:pt idx="4">
                  <c:v>Asian</c:v>
                </c:pt>
                <c:pt idx="5">
                  <c:v>Healthy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22.06</c:v>
                </c:pt>
                <c:pt idx="1">
                  <c:v>19.690000000000001</c:v>
                </c:pt>
                <c:pt idx="2">
                  <c:v>13.93</c:v>
                </c:pt>
                <c:pt idx="3">
                  <c:v>6.51</c:v>
                </c:pt>
                <c:pt idx="4">
                  <c:v>5.98</c:v>
                </c:pt>
                <c:pt idx="5">
                  <c:v>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4-4DB5-8ACC-D9256F3D3E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863-45F2-AA23-6CAFF2A59F9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863-45F2-AA23-6CAFF2A59F9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1863-45F2-AA23-6CAFF2A59F9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863-45F2-AA23-6CAFF2A59F9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1863-45F2-AA23-6CAFF2A59F9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863-45F2-AA23-6CAFF2A59F9B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1863-45F2-AA23-6CAFF2A59F9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863-45F2-AA23-6CAFF2A59F9B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1863-45F2-AA23-6CAFF2A59F9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863-45F2-AA23-6CAFF2A59F9B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1863-45F2-AA23-6CAFF2A59F9B}"/>
              </c:ext>
            </c:extLst>
          </c:dPt>
          <c:dPt>
            <c:idx val="11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C-1863-45F2-AA23-6CAFF2A59F9B}"/>
              </c:ext>
            </c:extLst>
          </c:dPt>
          <c:dPt>
            <c:idx val="12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E-1863-45F2-AA23-6CAFF2A59F9B}"/>
              </c:ext>
            </c:extLst>
          </c:dPt>
          <c:dPt>
            <c:idx val="13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0-1863-45F2-AA23-6CAFF2A59F9B}"/>
              </c:ext>
            </c:extLst>
          </c:dPt>
          <c:dPt>
            <c:idx val="14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2-1863-45F2-AA23-6CAFF2A59F9B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863-45F2-AA23-6CAFF2A59F9B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4-1863-45F2-AA23-6CAFF2A59F9B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1863-45F2-AA23-6CAFF2A59F9B}"/>
              </c:ext>
            </c:extLst>
          </c:dPt>
          <c:dPt>
            <c:idx val="18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863-45F2-AA23-6CAFF2A59F9B}"/>
              </c:ext>
            </c:extLst>
          </c:dPt>
          <c:dPt>
            <c:idx val="19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1863-45F2-AA23-6CAFF2A59F9B}"/>
              </c:ext>
            </c:extLst>
          </c:dPt>
          <c:dPt>
            <c:idx val="20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1863-45F2-AA23-6CAFF2A59F9B}"/>
              </c:ext>
            </c:extLst>
          </c:dPt>
          <c:dPt>
            <c:idx val="21"/>
            <c:invertIfNegative val="0"/>
            <c:bubble3D val="0"/>
            <c:spPr>
              <a:solidFill>
                <a:srgbClr val="F2C8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1863-45F2-AA23-6CAFF2A59F9B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E-1863-45F2-AA23-6CAFF2A59F9B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1863-45F2-AA23-6CAFF2A59F9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14</c:v>
                </c:pt>
                <c:pt idx="1">
                  <c:v>23</c:v>
                </c:pt>
                <c:pt idx="2">
                  <c:v>20</c:v>
                </c:pt>
                <c:pt idx="3">
                  <c:v>16</c:v>
                </c:pt>
                <c:pt idx="4">
                  <c:v>17</c:v>
                </c:pt>
                <c:pt idx="5">
                  <c:v>14</c:v>
                </c:pt>
                <c:pt idx="6">
                  <c:v>32</c:v>
                </c:pt>
                <c:pt idx="7">
                  <c:v>35</c:v>
                </c:pt>
                <c:pt idx="8">
                  <c:v>64</c:v>
                </c:pt>
                <c:pt idx="9">
                  <c:v>70</c:v>
                </c:pt>
                <c:pt idx="10">
                  <c:v>99</c:v>
                </c:pt>
                <c:pt idx="11">
                  <c:v>124</c:v>
                </c:pt>
                <c:pt idx="12">
                  <c:v>153</c:v>
                </c:pt>
                <c:pt idx="13">
                  <c:v>179</c:v>
                </c:pt>
                <c:pt idx="14">
                  <c:v>126</c:v>
                </c:pt>
                <c:pt idx="15">
                  <c:v>80</c:v>
                </c:pt>
                <c:pt idx="16">
                  <c:v>80</c:v>
                </c:pt>
                <c:pt idx="17">
                  <c:v>75</c:v>
                </c:pt>
                <c:pt idx="18">
                  <c:v>142</c:v>
                </c:pt>
                <c:pt idx="19">
                  <c:v>197</c:v>
                </c:pt>
                <c:pt idx="20">
                  <c:v>182</c:v>
                </c:pt>
                <c:pt idx="21">
                  <c:v>130</c:v>
                </c:pt>
                <c:pt idx="22">
                  <c:v>63</c:v>
                </c:pt>
                <c:pt idx="2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0-1863-45F2-AA23-6CAFF2A59F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00E-4771-8DE7-B16E23DF4B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0E-4771-8DE7-B16E23DF4B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00E-4771-8DE7-B16E23DF4BB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00E-4771-8DE7-B16E23DF4BB3}"/>
              </c:ext>
            </c:extLst>
          </c:dPt>
          <c:dPt>
            <c:idx val="4"/>
            <c:invertIfNegative val="0"/>
            <c:bubble3D val="0"/>
            <c:spPr>
              <a:solidFill>
                <a:srgbClr val="FD62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0E-4771-8DE7-B16E23DF4BB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8+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23.5</c:v>
                </c:pt>
                <c:pt idx="1">
                  <c:v>28.1</c:v>
                </c:pt>
                <c:pt idx="2">
                  <c:v>36</c:v>
                </c:pt>
                <c:pt idx="3">
                  <c:v>43.8</c:v>
                </c:pt>
                <c:pt idx="4">
                  <c:v>59.5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00E-4771-8DE7-B16E23DF4B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ln w="38100" cap="flat">
              <a:solidFill>
                <a:srgbClr val="F2C81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F2C811"/>
              </a:solidFill>
              <a:ln w="9525" cap="flat">
                <a:solidFill>
                  <a:srgbClr val="F2C811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&lt;2 km</c:v>
                </c:pt>
                <c:pt idx="1">
                  <c:v>2-4 km</c:v>
                </c:pt>
                <c:pt idx="2">
                  <c:v>4-6 km</c:v>
                </c:pt>
                <c:pt idx="3">
                  <c:v>6-8 km</c:v>
                </c:pt>
                <c:pt idx="4">
                  <c:v>8+ km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4.38</c:v>
                </c:pt>
                <c:pt idx="1">
                  <c:v>4.33</c:v>
                </c:pt>
                <c:pt idx="2">
                  <c:v>4.2699999999999996</c:v>
                </c:pt>
                <c:pt idx="3">
                  <c:v>4.25</c:v>
                </c:pt>
                <c:pt idx="4">
                  <c:v>4.16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D3-4F48-B11C-489A0E2E6D2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7"/>
          <c:min val="3.5"/>
        </c:scaling>
        <c:delete val="0"/>
        <c:axPos val="l"/>
        <c:majorGridlines>
          <c:spPr>
            <a:ln w="9525" cap="flat">
              <a:solidFill>
                <a:srgbClr val="E1DFD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EFA-4DED-AB61-A0EB5761FD1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FA-4DED-AB61-A0EB5761FD18}"/>
              </c:ext>
            </c:extLst>
          </c:dPt>
          <c:dPt>
            <c:idx val="2"/>
            <c:invertIfNegative val="0"/>
            <c:bubble3D val="0"/>
            <c:spPr>
              <a:solidFill>
                <a:srgbClr val="FE9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FA-4DED-AB61-A0EB5761FD18}"/>
              </c:ext>
            </c:extLst>
          </c:dPt>
          <c:dPt>
            <c:idx val="3"/>
            <c:invertIfNegative val="0"/>
            <c:bubble3D val="0"/>
            <c:spPr>
              <a:solidFill>
                <a:srgbClr val="FD62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FA-4DED-AB61-A0EB5761FD1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Rain</c:v>
                </c:pt>
                <c:pt idx="3">
                  <c:v>Storm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33.5</c:v>
                </c:pt>
                <c:pt idx="1">
                  <c:v>34.700000000000003</c:v>
                </c:pt>
                <c:pt idx="2">
                  <c:v>40.299999999999997</c:v>
                </c:pt>
                <c:pt idx="3">
                  <c:v>47.4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FA-4DED-AB61-A0EB5761FD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1B8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2383-4B03-AB04-08397CF4B9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383-4B03-AB04-08397CF4B9CA}"/>
              </c:ext>
            </c:extLst>
          </c:dPt>
          <c:dPt>
            <c:idx val="2"/>
            <c:invertIfNegative val="0"/>
            <c:bubble3D val="0"/>
            <c:spPr>
              <a:solidFill>
                <a:srgbClr val="FE9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383-4B03-AB04-08397CF4B9CA}"/>
              </c:ext>
            </c:extLst>
          </c:dPt>
          <c:dPt>
            <c:idx val="3"/>
            <c:invertIfNegative val="0"/>
            <c:bubble3D val="0"/>
            <c:spPr>
              <a:solidFill>
                <a:srgbClr val="FD62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383-4B03-AB04-08397CF4B9CA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242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Rain</c:v>
                </c:pt>
                <c:pt idx="3">
                  <c:v>Storm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4.4000000000000004</c:v>
                </c:pt>
                <c:pt idx="1">
                  <c:v>4.3099999999999996</c:v>
                </c:pt>
                <c:pt idx="2">
                  <c:v>3.95</c:v>
                </c:pt>
                <c:pt idx="3">
                  <c:v>3.59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383-4B03-AB04-08397CF4B9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DD609-6C8F-4EE7-A165-78DBF1CDCC99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ED34A-5BC2-43AD-8D2D-4980544D79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04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775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F99A-338E-A1F9-5B45-5A505B49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000CE-19DE-6A93-AD6E-B7F2B98BD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EC84C-462E-D59F-84DF-BCBC58E5F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96ADF-7A7E-3673-78C5-26C612A6F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6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2CB77-0D84-B94C-508D-2C048C0C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59EFF-7C38-FA6C-06EB-44361EDE5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10142-13B1-7A96-1731-06819E11D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C6FD4-99B4-1179-2274-44B22FF97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007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5BD15-BCAE-4414-9C8F-033ADD07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8ECD5-C3D7-4182-384B-B1EAEBFAA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E5F4D-F5A9-EDBB-D10B-E8E8A5B28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19798-4A6F-F37B-DAD4-A8580C41D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69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D8008-9E33-A098-6F6D-400BB0DB8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EED55-E137-13E2-FC6B-434E5E45F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8FF08-1523-A83C-6CAA-294712AC2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5D688-84AA-26BB-C364-9EBDAFF02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799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75685-FFD1-AF02-90C4-FF59DCD9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439B1B-AE4F-1A39-15B6-96F7A90C0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77B99-90C4-51CE-4510-D32D0F640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3B8F4-08F9-90DC-809F-F6A46BDA3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875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AFDD-B93F-09C7-60A1-ADDCFF3D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8E78-1864-30A5-7785-4221D02E0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331F2-9A9A-139E-4EF2-886A6039E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0847F-0291-62CC-0381-0900EB0B9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321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38E8-A51A-B76B-C444-071FFB267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5EA26-F5BC-22BC-5CE7-F9FD279A30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3DFFF-2572-D364-04B8-E437C61EF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2BED0-332E-7211-4624-547A46C68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957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5B82D-0866-322E-D050-E76313FA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02113-FF52-8DA5-8135-C3AF7D709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D5B875-525F-4715-D7C4-E0ACB157A0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E2BD8-E362-B65D-19A0-689B45264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638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4414E-7141-CC6C-6F7C-7B9AC860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C5B00-67A5-BA16-6D6A-579D832F2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5639F-9714-BD55-DE2C-654F51E9E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D737A-B93A-6944-D102-32A4E1F71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037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396F-3201-C6D3-607F-49D405A0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BC0F5B-C129-3812-9098-D2F64BE97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599038-F2F8-ECCE-3DE3-B9A735873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88BC7-1053-DD42-4190-F97520D73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6668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B2595-41EC-A101-212A-948EA80A7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1D5F4-8231-422A-DDA7-6666BD339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D8F28-0508-5FC9-1622-EAC048049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C6314-78DC-D2D1-D32D-8317D3094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988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7A6F3-A11C-B892-E6ED-C70DE9FF5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C6472-693F-1381-9CA1-63D15EDEC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E3C0E-12C8-AB66-425D-71E9DEAF2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7A2BC-4DDF-8BA1-EE4C-B09B8937B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5066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8D4A9-9E4A-BD9D-48A7-E279F0FE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E66C1-A340-6F02-1D32-9814016E9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786C9-5D01-7381-01AC-865D98F95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877CC-8FCE-FD0E-68B0-3BAB95D08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901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B255-C8FA-1AA2-32A1-5E5E3E06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8EDAE-7582-C2E9-22A0-CB6F4E618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D12C54-FBF6-AA65-C6DC-83218B2B9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E923F-CEF8-352A-39CD-D04FBEE7B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9841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88EA4-B916-D78F-B4AC-49E18C221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19191-25D8-E360-61EC-9668808A1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6D1A5-24A8-C1AD-B573-5588247DF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C396A-CAE9-F97F-362A-2400C784D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580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063DE-6BC1-E911-31C9-77E229F86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D84512-F403-EF3E-BE8D-15A91F468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C46B1-5B13-C067-E1DE-24089954D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7BB84-2E95-5DF5-4672-DF48D2CD5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54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CD85-7B0A-BFF1-2CB2-587152E2C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3DFC1-4F58-A33D-5AC3-DC0B9EA6E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05B7E-7B28-0A6A-7E8F-F97C476B8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1CA63-DA01-D191-BE30-A2FC47A59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6426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81B67-0B7C-B6EC-513C-9173EA60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BA2C4-1CB3-7181-4A86-E450AAD58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11493-A689-5703-D5A2-73F27CD7E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166A2-235B-73BF-3FBA-0AFBCB42D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9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26F0-CF57-CD10-36FC-EEBF9CA8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E3C28-D866-7EEF-08ED-F306E017B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1C94C-2DDC-2F4D-AE27-52CC8F1A3C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88010-0C4E-749A-586F-08DB3BF95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63159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46DE-206E-BBD9-74B5-0F39AAB2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F7F6-9C1E-7558-04FF-8B8DD56DE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0C707-AE39-8897-AB57-67554D831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3A6AE-2F12-FCC1-BFA0-B4734073B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955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B8C5-A7B6-639D-84D2-6ED67160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7952C-CDF7-7232-20B7-8E65199AE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84C15A-8AAC-2D8D-EA11-C3AB45458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0714F-7640-17A9-82B4-2B1C206E9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379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EC71C-E352-705F-B912-CC82816F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8229BB-9349-FFF4-282B-34720031F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6B445-63FC-1FC5-4565-0A1C9DF8A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5AF3-B4E7-6AC6-D890-9B7BF89E7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3366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0C4FF-5D8F-ED2E-BED5-0DE87E15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66A83-67E5-1BCF-ED70-9E92E40DB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6BB27-FF3B-917B-3749-5949E3DF3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DB6B2-DA4C-FF61-2E73-1FB65EA8E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ED34A-5BC2-43AD-8D2D-4980544D79E9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117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10/8/2026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886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204963"/>
      </p:ext>
    </p:extLst>
  </p:cSld>
  <p:clrMapOvr>
    <a:masterClrMapping/>
  </p:clrMapOvr>
  <p:transition spd="slow">
    <p:cover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987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3077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4228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r"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382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480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488994"/>
      </p:ext>
    </p:extLst>
  </p:cSld>
  <p:clrMapOvr>
    <a:masterClrMapping/>
  </p:clrMapOvr>
  <p:transition spd="slow">
    <p:cover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655633"/>
      </p:ext>
    </p:extLst>
  </p:cSld>
  <p:clrMapOvr>
    <a:masterClrMapping/>
  </p:clrMapOvr>
  <p:transition spd="slow">
    <p:cover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318538"/>
      </p:ext>
    </p:extLst>
  </p:cSld>
  <p:clrMapOvr>
    <a:masterClrMapping/>
  </p:clrMapOvr>
  <p:transition spd="slow">
    <p:cover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568907"/>
      </p:ext>
    </p:extLst>
  </p:cSld>
  <p:clrMapOvr>
    <a:masterClrMapping/>
  </p:clrMapOvr>
  <p:transition spd="slow">
    <p:cover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354566"/>
      </p:ext>
    </p:extLst>
  </p:cSld>
  <p:clrMapOvr>
    <a:masterClrMapping/>
  </p:clrMapOvr>
  <p:transition spd="slow">
    <p:cover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897880"/>
      </p:ext>
    </p:extLst>
  </p:cSld>
  <p:clrMapOvr>
    <a:masterClrMapping/>
  </p:clrMapOvr>
  <p:transition spd="slow">
    <p:cover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106633"/>
      </p:ext>
    </p:extLst>
  </p:cSld>
  <p:clrMapOvr>
    <a:masterClrMapping/>
  </p:clrMapOvr>
  <p:transition spd="slow">
    <p:cover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6207854"/>
      </p:ext>
    </p:extLst>
  </p:cSld>
  <p:clrMapOvr>
    <a:masterClrMapping/>
  </p:clrMapOvr>
  <p:transition spd="slow">
    <p:cover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193136"/>
      </p:ext>
    </p:extLst>
  </p:cSld>
  <p:clrMapOvr>
    <a:masterClrMapping/>
  </p:clrMapOvr>
  <p:transition spd="slow">
    <p:cover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295714"/>
      </p:ext>
    </p:extLst>
  </p:cSld>
  <p:clrMapOvr>
    <a:masterClrMapping/>
  </p:clrMapOvr>
  <p:transition spd="slow">
    <p:cover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61452"/>
      </p:ext>
    </p:extLst>
  </p:cSld>
  <p:clrMapOvr>
    <a:masterClrMapping/>
  </p:clrMapOvr>
  <p:transition spd="slow">
    <p:cover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016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655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206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445158"/>
      </p:ext>
    </p:extLst>
  </p:cSld>
  <p:clrMapOvr>
    <a:masterClrMapping/>
  </p:clrMapOvr>
  <p:transition spd="slow">
    <p:cover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5712780"/>
      </p:ext>
    </p:extLst>
  </p:cSld>
  <p:clrMapOvr>
    <a:masterClrMapping/>
  </p:clrMapOvr>
  <p:transition spd="slow">
    <p:cover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52582"/>
      </p:ext>
    </p:extLst>
  </p:cSld>
  <p:clrMapOvr>
    <a:masterClrMapping/>
  </p:clrMapOvr>
  <p:transition spd="slow">
    <p:cover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49018"/>
      </p:ext>
    </p:extLst>
  </p:cSld>
  <p:clrMapOvr>
    <a:masterClrMapping/>
  </p:clrMapOvr>
  <p:transition spd="slow">
    <p:cover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911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795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Vert">
          <a:fgClr>
            <a:srgbClr val="F5F7FA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4593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  <p:sldLayoutId id="2147483789" r:id="rId17"/>
    <p:sldLayoutId id="2147483790" r:id="rId18"/>
    <p:sldLayoutId id="2147483791" r:id="rId19"/>
    <p:sldLayoutId id="2147483792" r:id="rId20"/>
    <p:sldLayoutId id="2147483793" r:id="rId21"/>
    <p:sldLayoutId id="2147483794" r:id="rId22"/>
    <p:sldLayoutId id="2147483795" r:id="rId23"/>
    <p:sldLayoutId id="2147483796" r:id="rId24"/>
    <p:sldLayoutId id="2147483797" r:id="rId25"/>
    <p:sldLayoutId id="2147483798" r:id="rId26"/>
    <p:sldLayoutId id="2147483799" r:id="rId27"/>
  </p:sldLayoutIdLst>
  <p:transition spd="slow">
    <p:cover dir="r"/>
  </p:transition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4953472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Food Delivery Orders</a:t>
            </a: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Dataset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657600"/>
            <a:ext cx="48605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6E6E6"/>
                </a:solidFill>
              </a:defRPr>
            </a:pPr>
            <a:r>
              <a:rPr dirty="0">
                <a:solidFill>
                  <a:srgbClr val="FF0000"/>
                </a:solidFill>
              </a:rPr>
              <a:t>Data Analytics Project Using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547175"/>
            <a:ext cx="388747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67E22"/>
                </a:solidFill>
              </a:defRPr>
            </a:pPr>
            <a:r>
              <a:rPr dirty="0">
                <a:solidFill>
                  <a:srgbClr val="FF0000"/>
                </a:solidFill>
              </a:rPr>
              <a:t>Pandas • NumPy • Matplotlib • Seaborn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062E6A-D81C-480F-E2FF-77F6304E4B6A}"/>
              </a:ext>
            </a:extLst>
          </p:cNvPr>
          <p:cNvSpPr/>
          <p:nvPr/>
        </p:nvSpPr>
        <p:spPr>
          <a:xfrm>
            <a:off x="0" y="6629400"/>
            <a:ext cx="1233297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08610"/>
            <a:ext cx="31133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• Analyze food delivery order data using Python.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• Understand customer ordering and delivery patterns.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• Study order value, delivery fees, tips, distance, preparation time and delivery time.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• Analyze customer ratings and numerical relationships.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rPr dirty="0"/>
              <a:t>• Present findings through statistical analysis and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B978C-4A72-CD3B-AFE1-9403B977495D}"/>
              </a:ext>
            </a:extLst>
          </p:cNvPr>
          <p:cNvSpPr/>
          <p:nvPr/>
        </p:nvSpPr>
        <p:spPr>
          <a:xfrm>
            <a:off x="0" y="6675120"/>
            <a:ext cx="12191695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31776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Load and understand the food delivery dataset.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Check data types, missing values and duplicate records.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Clean and prepare the data for analysis.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Create useful derived fields such as order day, month and year.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Perform descriptive and statistical analysis.</a:t>
            </a:r>
          </a:p>
          <a:p>
            <a:pPr>
              <a:spcAft>
                <a:spcPts val="1200"/>
              </a:spcAft>
              <a:defRPr sz="2000">
                <a:solidFill>
                  <a:srgbClr val="282828"/>
                </a:solidFill>
              </a:defRPr>
            </a:pPr>
            <a:r>
              <a:t>• Create meaningful charts and identify business-relevant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89578B-F992-08AB-7F35-504D25D80DC9}"/>
              </a:ext>
            </a:extLst>
          </p:cNvPr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224028"/>
            <a:ext cx="40657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3. Tools and Technologies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4754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Main programming language used for data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21408"/>
            <a:ext cx="4754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Data loading, cleaning, transformation and aggregation.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4754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Numerical calculations and array operations.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840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Matplotlib /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315968"/>
            <a:ext cx="47548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Charts, statistical visualizations and correlation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0387C6-7ECE-F382-440F-44FA8AEFA36A}"/>
              </a:ext>
            </a:extLst>
          </p:cNvPr>
          <p:cNvSpPr/>
          <p:nvPr/>
        </p:nvSpPr>
        <p:spPr>
          <a:xfrm>
            <a:off x="0" y="6675120"/>
            <a:ext cx="12191695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54105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4. Dataset and Important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delivery_fee</a:t>
            </a:r>
            <a:r>
              <a:rPr dirty="0"/>
              <a:t> – delivery charge applied to an order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order_total</a:t>
            </a:r>
            <a:r>
              <a:rPr dirty="0"/>
              <a:t> – value of the food order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tip_amount</a:t>
            </a:r>
            <a:r>
              <a:rPr dirty="0"/>
              <a:t> – tip provided by the customer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distance_km</a:t>
            </a:r>
            <a:r>
              <a:rPr dirty="0"/>
              <a:t> – delivery distance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restaurant_preparation_time_minutes</a:t>
            </a:r>
            <a:r>
              <a:rPr dirty="0"/>
              <a:t> – restaurant preparation duration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actual_delivery_time_minutes</a:t>
            </a:r>
            <a:r>
              <a:rPr dirty="0"/>
              <a:t> – actual delivery duration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customer_rating</a:t>
            </a:r>
            <a:r>
              <a:rPr dirty="0"/>
              <a:t> – customer rating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</a:t>
            </a:r>
            <a:r>
              <a:rPr dirty="0" err="1"/>
              <a:t>Calculated_Total</a:t>
            </a:r>
            <a:r>
              <a:rPr dirty="0"/>
              <a:t> – calculated combined order amount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A3CDC-034A-1234-F694-EDE77122EF4E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447" y="309321"/>
            <a:ext cx="52309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5. Data Cleaning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Checked dataset structure using head(), shape, info() and describe().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Identified missing values using </a:t>
            </a:r>
            <a:r>
              <a:rPr dirty="0" err="1"/>
              <a:t>isnull</a:t>
            </a:r>
            <a:r>
              <a:rPr dirty="0"/>
              <a:t>() and </a:t>
            </a:r>
            <a:r>
              <a:rPr dirty="0" err="1"/>
              <a:t>isna</a:t>
            </a:r>
            <a:r>
              <a:rPr dirty="0"/>
              <a:t>().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Handled appropriate numerical missing values using median where required.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Checked and removed duplicate records.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Converted numerical columns to numeric data types.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Processed date information and created order day, month and year features.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Checked numerical values for possible invalid or unusual observations</a:t>
            </a:r>
            <a:r>
              <a:rPr lang="en-US" dirty="0"/>
              <a:t>(Outliers).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EF3038-F592-3972-4D77-5A040678159A}"/>
              </a:ext>
            </a:extLst>
          </p:cNvPr>
          <p:cNvSpPr/>
          <p:nvPr/>
        </p:nvSpPr>
        <p:spPr>
          <a:xfrm>
            <a:off x="0" y="6572250"/>
            <a:ext cx="12412980" cy="2857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320040"/>
            <a:ext cx="44174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6.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Examined the distribution of order totals.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Analyzed delivery distance and delivery duration.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Studied restaurant preparation time.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Analyzed customer rating distribution.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Compared delivery fees and tip amounts.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Used grouping and aggregation to summarize important variables.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Examined relationships between numerical variables using correlation.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68030F-B807-FA9A-4CAB-7E000B2C2481}"/>
              </a:ext>
            </a:extLst>
          </p:cNvPr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1460"/>
            <a:ext cx="33910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7. Statistical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Mean – identifies the average value.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Median – identifies the middle value and is less affected by extreme values.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Minimum and maximum – show the range of the data.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Standard deviation – measures variation around the mean.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Variance – measures overall numerical spread.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Percentiles – help understand the distribution of order and delivery measures.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DADE4-E795-997C-DF4A-88E273CCDC92}"/>
              </a:ext>
            </a:extLst>
          </p:cNvPr>
          <p:cNvSpPr/>
          <p:nvPr/>
        </p:nvSpPr>
        <p:spPr>
          <a:xfrm>
            <a:off x="0" y="6606540"/>
            <a:ext cx="12192000" cy="2514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2162" y="285870"/>
            <a:ext cx="39213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8. Visualizations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39"/>
            <a:ext cx="10311205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1)Bar chart for trips by category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2)Pie chart for category distribution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3)Histogram for trip distance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4)Box plot for trip distance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5)Line chart for daily trip trends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6)Scatter plot for numerical relationships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7)Count plot for trip purposes8)Bar plot for average distance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9)Violin plot for distance distribution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10)Swarm plot for distance by time period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11)Correlation heatmap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12)Interactive </a:t>
            </a:r>
            <a:r>
              <a:rPr lang="en-US" sz="1400" dirty="0" err="1"/>
              <a:t>Plotly</a:t>
            </a:r>
            <a:r>
              <a:rPr lang="en-US" sz="1400" dirty="0"/>
              <a:t> visualization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13)Customer Rating Distribution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14)order by month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lang="en-US" sz="1400" dirty="0"/>
              <a:t>15)Delivery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2A5207-22F1-7F3C-BBC9-6F5D0F5090F8}"/>
              </a:ext>
            </a:extLst>
          </p:cNvPr>
          <p:cNvSpPr/>
          <p:nvPr/>
        </p:nvSpPr>
        <p:spPr>
          <a:xfrm>
            <a:off x="0" y="6572130"/>
            <a:ext cx="12191695" cy="3773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51460"/>
            <a:ext cx="6327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9. Key Insights — Orders and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Order values vary across customers and individual orders.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The order-total distribution helps identify typical spending patterns and unusually high or low orders.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Customer ratings provide an indication of satisfaction with the delivered order.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Tip amounts provide information about additional customer payments.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• Comparing order totals and tips can help explore customer spending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149B4F-D667-8A6B-D34C-C0C88FAE953A}"/>
              </a:ext>
            </a:extLst>
          </p:cNvPr>
          <p:cNvSpPr/>
          <p:nvPr/>
        </p:nvSpPr>
        <p:spPr>
          <a:xfrm>
            <a:off x="0" y="6675120"/>
            <a:ext cx="12310110" cy="182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91018"/>
            <a:ext cx="64064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10. Key Insights — Delivery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Delivery distance varies between orders.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Longer delivery distances can be examined against actual delivery time.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Restaurant preparation time is an important part of the overall delivery process.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Orders with unusually high delivery times can be investigated as potential operational exceptions.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The analysis helps separate normal delivery patterns from unusual observations.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52F0B-D712-AF69-838E-F69B6E4F5BFD}"/>
              </a:ext>
            </a:extLst>
          </p:cNvPr>
          <p:cNvSpPr/>
          <p:nvPr/>
        </p:nvSpPr>
        <p:spPr>
          <a:xfrm>
            <a:off x="0" y="6675120"/>
            <a:ext cx="12191695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1490" y="251460"/>
            <a:ext cx="3772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11.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A correlation heatmap was used to compare numerical variables.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Variables analyzed include order total, delivery fee, tip amount, distance, preparation time, delivery time and customer rating.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Positive correlation indicates that two variables tend to increase together.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Negative correlation indicates that one variable tends to decrease as the other increases.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Correlation shows association and does not by itself prove causation.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5EF56F-DB24-7BD4-23D4-E9F4F3900C14}"/>
              </a:ext>
            </a:extLst>
          </p:cNvPr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"/>
            <a:ext cx="319645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12. Overall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Food delivery orders show variation in value, distance and delivery duration.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Delivery performance can be studied using distance, preparation time and actual delivery time.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Customer ratings provide a useful measure of customer experience.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Delivery fees and tips provide additional information about customer spending.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Visualizations make distributions, outliers and relationships easier to identify.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t>• Data cleaning and feature engineering improve the reliability of the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8B29D-7AF7-7E8A-92FA-13443B8B5653}"/>
              </a:ext>
            </a:extLst>
          </p:cNvPr>
          <p:cNvSpPr/>
          <p:nvPr/>
        </p:nvSpPr>
        <p:spPr>
          <a:xfrm>
            <a:off x="0" y="6675120"/>
            <a:ext cx="12191695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24401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13.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The analysis depends on the variables available in the dataset.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Factors such as traffic, weather, driver availability and promotional offers may not be included.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Correlation cannot establish cause-and-effect relationships.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Any missing or inaccurate source data can affect the final results.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Further analysis could be performed if additional operational and customer information is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81A93-9325-2E79-C989-0D7C074C20F1}"/>
              </a:ext>
            </a:extLst>
          </p:cNvPr>
          <p:cNvSpPr/>
          <p:nvPr/>
        </p:nvSpPr>
        <p:spPr>
          <a:xfrm>
            <a:off x="0" y="667512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ADB0C-067E-A9B3-5864-4D60E1355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81C42B-7C40-5508-E2E8-82B97E41FA96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2E3274-6369-1ED1-4BCF-2BC18EBB9A53}"/>
              </a:ext>
            </a:extLst>
          </p:cNvPr>
          <p:cNvSpPr txBox="1"/>
          <p:nvPr/>
        </p:nvSpPr>
        <p:spPr>
          <a:xfrm>
            <a:off x="594360" y="201168"/>
            <a:ext cx="93952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Food Delivery Orders Analysis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Power BI-Style Report with KPI Cards, Charts &amp; Analysis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52C54-AB7D-873F-F15F-3FFFF8546EEF}"/>
              </a:ext>
            </a:extLst>
          </p:cNvPr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The analysis depends on the variables available in the dataset.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Factors such as traffic, weather, driver availability and promotional offers may not be included.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Correlation cannot establish cause-and-effect relationships.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Any missing or inaccurate source data can affect the final results.</a:t>
            </a:r>
          </a:p>
          <a:p>
            <a:pPr>
              <a:spcAft>
                <a:spcPts val="1200"/>
              </a:spcAft>
              <a:defRPr sz="1700">
                <a:solidFill>
                  <a:srgbClr val="282828"/>
                </a:solidFill>
              </a:defRPr>
            </a:pPr>
            <a:r>
              <a:rPr dirty="0"/>
              <a:t>• Further analysis could be performed if additional operational and customer information is available.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F103B-965A-2447-3E85-7FA40611F2E0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410C22-7085-6943-6433-3926D230DD42}"/>
              </a:ext>
            </a:extLst>
          </p:cNvPr>
          <p:cNvSpPr/>
          <p:nvPr/>
        </p:nvSpPr>
        <p:spPr>
          <a:xfrm>
            <a:off x="0" y="667512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058764"/>
      </p:ext>
    </p:extLst>
  </p:cSld>
  <p:clrMapOvr>
    <a:masterClrMapping/>
  </p:clrMapOvr>
  <p:transition spd="slow">
    <p:cover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5683B-57CF-A937-0EEC-D368B5535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">
            <a:extLst>
              <a:ext uri="{FF2B5EF4-FFF2-40B4-BE49-F238E27FC236}">
                <a16:creationId xmlns:a16="http://schemas.microsoft.com/office/drawing/2014/main" id="{FAC7F123-10AA-02CE-B50A-F16920BB0F2A}"/>
              </a:ext>
            </a:extLst>
          </p:cNvPr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Steady daily demand with a very low cancellation rate; revenue based on 1,967 completed orders</a:t>
            </a:r>
            <a:endParaRPr lang="en-US" sz="1600" dirty="0"/>
          </a:p>
        </p:txBody>
      </p:sp>
      <p:sp>
        <p:nvSpPr>
          <p:cNvPr id="8" name="KPI Total orders">
            <a:extLst>
              <a:ext uri="{FF2B5EF4-FFF2-40B4-BE49-F238E27FC236}">
                <a16:creationId xmlns:a16="http://schemas.microsoft.com/office/drawing/2014/main" id="{8AC56F46-23FE-68B1-B775-33B0E1F82083}"/>
              </a:ext>
            </a:extLst>
          </p:cNvPr>
          <p:cNvSpPr/>
          <p:nvPr/>
        </p:nvSpPr>
        <p:spPr>
          <a:xfrm>
            <a:off x="457200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KPI dot Total orders">
            <a:extLst>
              <a:ext uri="{FF2B5EF4-FFF2-40B4-BE49-F238E27FC236}">
                <a16:creationId xmlns:a16="http://schemas.microsoft.com/office/drawing/2014/main" id="{D861C40F-7696-FC15-518F-89C1FD06247C}"/>
              </a:ext>
            </a:extLst>
          </p:cNvPr>
          <p:cNvSpPr/>
          <p:nvPr/>
        </p:nvSpPr>
        <p:spPr>
          <a:xfrm>
            <a:off x="640080" y="173736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KPI label Total orders">
            <a:extLst>
              <a:ext uri="{FF2B5EF4-FFF2-40B4-BE49-F238E27FC236}">
                <a16:creationId xmlns:a16="http://schemas.microsoft.com/office/drawing/2014/main" id="{9773246B-E3BA-F537-EE24-7FD30AE652BA}"/>
              </a:ext>
            </a:extLst>
          </p:cNvPr>
          <p:cNvSpPr txBox="1"/>
          <p:nvPr/>
        </p:nvSpPr>
        <p:spPr>
          <a:xfrm>
            <a:off x="868680" y="1664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Total orders</a:t>
            </a:r>
            <a:endParaRPr lang="en-US" sz="1200" dirty="0"/>
          </a:p>
        </p:txBody>
      </p:sp>
      <p:sp>
        <p:nvSpPr>
          <p:cNvPr id="14" name="KPI value Total orders">
            <a:extLst>
              <a:ext uri="{FF2B5EF4-FFF2-40B4-BE49-F238E27FC236}">
                <a16:creationId xmlns:a16="http://schemas.microsoft.com/office/drawing/2014/main" id="{F0DBAE7F-2404-07AE-FD1E-C3ED20458D89}"/>
              </a:ext>
            </a:extLst>
          </p:cNvPr>
          <p:cNvSpPr txBox="1"/>
          <p:nvPr/>
        </p:nvSpPr>
        <p:spPr>
          <a:xfrm>
            <a:off x="640080" y="2057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1,999</a:t>
            </a:r>
            <a:endParaRPr lang="en-US" sz="2800" dirty="0"/>
          </a:p>
        </p:txBody>
      </p:sp>
      <p:sp>
        <p:nvSpPr>
          <p:cNvPr id="16" name="KPI Revenue">
            <a:extLst>
              <a:ext uri="{FF2B5EF4-FFF2-40B4-BE49-F238E27FC236}">
                <a16:creationId xmlns:a16="http://schemas.microsoft.com/office/drawing/2014/main" id="{EEA5E4F1-7C15-CB21-9252-76A5319DB1E1}"/>
              </a:ext>
            </a:extLst>
          </p:cNvPr>
          <p:cNvSpPr/>
          <p:nvPr/>
        </p:nvSpPr>
        <p:spPr>
          <a:xfrm>
            <a:off x="2359152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KPI dot Revenue">
            <a:extLst>
              <a:ext uri="{FF2B5EF4-FFF2-40B4-BE49-F238E27FC236}">
                <a16:creationId xmlns:a16="http://schemas.microsoft.com/office/drawing/2014/main" id="{238CBEFC-6A6C-11E4-D41E-623418441979}"/>
              </a:ext>
            </a:extLst>
          </p:cNvPr>
          <p:cNvSpPr/>
          <p:nvPr/>
        </p:nvSpPr>
        <p:spPr>
          <a:xfrm>
            <a:off x="2542032" y="1737360"/>
            <a:ext cx="164592" cy="16459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KPI label Revenue">
            <a:extLst>
              <a:ext uri="{FF2B5EF4-FFF2-40B4-BE49-F238E27FC236}">
                <a16:creationId xmlns:a16="http://schemas.microsoft.com/office/drawing/2014/main" id="{60D5F299-3B27-C385-AAC4-F7818450854B}"/>
              </a:ext>
            </a:extLst>
          </p:cNvPr>
          <p:cNvSpPr txBox="1"/>
          <p:nvPr/>
        </p:nvSpPr>
        <p:spPr>
          <a:xfrm>
            <a:off x="2770632" y="1664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Revenue</a:t>
            </a:r>
            <a:endParaRPr lang="en-US" sz="1200" dirty="0"/>
          </a:p>
        </p:txBody>
      </p:sp>
      <p:sp>
        <p:nvSpPr>
          <p:cNvPr id="22" name="KPI value Revenue">
            <a:extLst>
              <a:ext uri="{FF2B5EF4-FFF2-40B4-BE49-F238E27FC236}">
                <a16:creationId xmlns:a16="http://schemas.microsoft.com/office/drawing/2014/main" id="{D1E89D69-B741-4E72-61A9-BB25AF129BB0}"/>
              </a:ext>
            </a:extLst>
          </p:cNvPr>
          <p:cNvSpPr txBox="1"/>
          <p:nvPr/>
        </p:nvSpPr>
        <p:spPr>
          <a:xfrm>
            <a:off x="2542032" y="2057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73.9K</a:t>
            </a:r>
            <a:endParaRPr lang="en-US" sz="2800" dirty="0"/>
          </a:p>
        </p:txBody>
      </p:sp>
      <p:sp>
        <p:nvSpPr>
          <p:cNvPr id="24" name="KPI Avg order value">
            <a:extLst>
              <a:ext uri="{FF2B5EF4-FFF2-40B4-BE49-F238E27FC236}">
                <a16:creationId xmlns:a16="http://schemas.microsoft.com/office/drawing/2014/main" id="{A3E95C13-16DB-34E2-FE73-44BEB62CBC0B}"/>
              </a:ext>
            </a:extLst>
          </p:cNvPr>
          <p:cNvSpPr/>
          <p:nvPr/>
        </p:nvSpPr>
        <p:spPr>
          <a:xfrm>
            <a:off x="4261104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KPI dot Avg order value">
            <a:extLst>
              <a:ext uri="{FF2B5EF4-FFF2-40B4-BE49-F238E27FC236}">
                <a16:creationId xmlns:a16="http://schemas.microsoft.com/office/drawing/2014/main" id="{D88D6721-6D9C-FAE0-CC78-871A77C0F12D}"/>
              </a:ext>
            </a:extLst>
          </p:cNvPr>
          <p:cNvSpPr/>
          <p:nvPr/>
        </p:nvSpPr>
        <p:spPr>
          <a:xfrm>
            <a:off x="4443984" y="1737360"/>
            <a:ext cx="164592" cy="16459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KPI label Avg order value">
            <a:extLst>
              <a:ext uri="{FF2B5EF4-FFF2-40B4-BE49-F238E27FC236}">
                <a16:creationId xmlns:a16="http://schemas.microsoft.com/office/drawing/2014/main" id="{F3E4115A-AB38-7ECC-0B6E-1AE72DB38599}"/>
              </a:ext>
            </a:extLst>
          </p:cNvPr>
          <p:cNvSpPr txBox="1"/>
          <p:nvPr/>
        </p:nvSpPr>
        <p:spPr>
          <a:xfrm>
            <a:off x="4672584" y="1664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Avg order value</a:t>
            </a:r>
            <a:endParaRPr lang="en-US" sz="1200" dirty="0"/>
          </a:p>
        </p:txBody>
      </p:sp>
      <p:sp>
        <p:nvSpPr>
          <p:cNvPr id="30" name="KPI value Avg order value">
            <a:extLst>
              <a:ext uri="{FF2B5EF4-FFF2-40B4-BE49-F238E27FC236}">
                <a16:creationId xmlns:a16="http://schemas.microsoft.com/office/drawing/2014/main" id="{D95628D5-5B84-0743-833D-C86263CA2EED}"/>
              </a:ext>
            </a:extLst>
          </p:cNvPr>
          <p:cNvSpPr txBox="1"/>
          <p:nvPr/>
        </p:nvSpPr>
        <p:spPr>
          <a:xfrm>
            <a:off x="4443984" y="2057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37.55</a:t>
            </a:r>
            <a:endParaRPr lang="en-US" sz="2800" dirty="0"/>
          </a:p>
        </p:txBody>
      </p:sp>
      <p:sp>
        <p:nvSpPr>
          <p:cNvPr id="32" name="KPI Avg delivery time">
            <a:extLst>
              <a:ext uri="{FF2B5EF4-FFF2-40B4-BE49-F238E27FC236}">
                <a16:creationId xmlns:a16="http://schemas.microsoft.com/office/drawing/2014/main" id="{3E6DE831-703A-7B71-3216-D27675C7982C}"/>
              </a:ext>
            </a:extLst>
          </p:cNvPr>
          <p:cNvSpPr/>
          <p:nvPr/>
        </p:nvSpPr>
        <p:spPr>
          <a:xfrm>
            <a:off x="6163056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KPI dot Avg delivery time">
            <a:extLst>
              <a:ext uri="{FF2B5EF4-FFF2-40B4-BE49-F238E27FC236}">
                <a16:creationId xmlns:a16="http://schemas.microsoft.com/office/drawing/2014/main" id="{C5CC1705-0C25-5B62-EE23-2A6EB31939A8}"/>
              </a:ext>
            </a:extLst>
          </p:cNvPr>
          <p:cNvSpPr/>
          <p:nvPr/>
        </p:nvSpPr>
        <p:spPr>
          <a:xfrm>
            <a:off x="6345936" y="1737360"/>
            <a:ext cx="164592" cy="16459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KPI label Avg delivery time">
            <a:extLst>
              <a:ext uri="{FF2B5EF4-FFF2-40B4-BE49-F238E27FC236}">
                <a16:creationId xmlns:a16="http://schemas.microsoft.com/office/drawing/2014/main" id="{97A34141-BA4E-FF95-47FC-37042DC8C85C}"/>
              </a:ext>
            </a:extLst>
          </p:cNvPr>
          <p:cNvSpPr txBox="1"/>
          <p:nvPr/>
        </p:nvSpPr>
        <p:spPr>
          <a:xfrm>
            <a:off x="6574536" y="1664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Avg delivery time</a:t>
            </a:r>
            <a:endParaRPr lang="en-US" sz="1200" dirty="0"/>
          </a:p>
        </p:txBody>
      </p:sp>
      <p:sp>
        <p:nvSpPr>
          <p:cNvPr id="42" name="KPI value Avg delivery time">
            <a:extLst>
              <a:ext uri="{FF2B5EF4-FFF2-40B4-BE49-F238E27FC236}">
                <a16:creationId xmlns:a16="http://schemas.microsoft.com/office/drawing/2014/main" id="{38B7709B-B61E-3260-21F2-C9414BAEE933}"/>
              </a:ext>
            </a:extLst>
          </p:cNvPr>
          <p:cNvSpPr txBox="1"/>
          <p:nvPr/>
        </p:nvSpPr>
        <p:spPr>
          <a:xfrm>
            <a:off x="6345936" y="2057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35.2 min</a:t>
            </a:r>
            <a:endParaRPr lang="en-US" sz="2800" dirty="0"/>
          </a:p>
        </p:txBody>
      </p:sp>
      <p:sp>
        <p:nvSpPr>
          <p:cNvPr id="46" name="KPI Avg customer rating">
            <a:extLst>
              <a:ext uri="{FF2B5EF4-FFF2-40B4-BE49-F238E27FC236}">
                <a16:creationId xmlns:a16="http://schemas.microsoft.com/office/drawing/2014/main" id="{D444DFA9-37E3-54E6-5E54-61C17A8FDC80}"/>
              </a:ext>
            </a:extLst>
          </p:cNvPr>
          <p:cNvSpPr/>
          <p:nvPr/>
        </p:nvSpPr>
        <p:spPr>
          <a:xfrm>
            <a:off x="8065008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KPI dot Avg customer rating">
            <a:extLst>
              <a:ext uri="{FF2B5EF4-FFF2-40B4-BE49-F238E27FC236}">
                <a16:creationId xmlns:a16="http://schemas.microsoft.com/office/drawing/2014/main" id="{42F8A5B8-D198-E6DC-18F6-8CDB198DE587}"/>
              </a:ext>
            </a:extLst>
          </p:cNvPr>
          <p:cNvSpPr/>
          <p:nvPr/>
        </p:nvSpPr>
        <p:spPr>
          <a:xfrm>
            <a:off x="8247888" y="1737360"/>
            <a:ext cx="164592" cy="1645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KPI label Avg customer rating">
            <a:extLst>
              <a:ext uri="{FF2B5EF4-FFF2-40B4-BE49-F238E27FC236}">
                <a16:creationId xmlns:a16="http://schemas.microsoft.com/office/drawing/2014/main" id="{FBCC3B63-26E9-F451-8E90-853482FEA806}"/>
              </a:ext>
            </a:extLst>
          </p:cNvPr>
          <p:cNvSpPr txBox="1"/>
          <p:nvPr/>
        </p:nvSpPr>
        <p:spPr>
          <a:xfrm>
            <a:off x="8476488" y="1664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Avg customer rating</a:t>
            </a:r>
            <a:endParaRPr lang="en-US" sz="1200" dirty="0"/>
          </a:p>
        </p:txBody>
      </p:sp>
      <p:sp>
        <p:nvSpPr>
          <p:cNvPr id="58" name="KPI value Avg customer rating">
            <a:extLst>
              <a:ext uri="{FF2B5EF4-FFF2-40B4-BE49-F238E27FC236}">
                <a16:creationId xmlns:a16="http://schemas.microsoft.com/office/drawing/2014/main" id="{21997498-7024-E223-9E86-3AD92B62A4C4}"/>
              </a:ext>
            </a:extLst>
          </p:cNvPr>
          <p:cNvSpPr txBox="1"/>
          <p:nvPr/>
        </p:nvSpPr>
        <p:spPr>
          <a:xfrm>
            <a:off x="8247888" y="2057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4.29</a:t>
            </a:r>
            <a:endParaRPr lang="en-US" sz="2800" dirty="0"/>
          </a:p>
        </p:txBody>
      </p:sp>
      <p:sp>
        <p:nvSpPr>
          <p:cNvPr id="60" name="KPI Cancellation rate">
            <a:extLst>
              <a:ext uri="{FF2B5EF4-FFF2-40B4-BE49-F238E27FC236}">
                <a16:creationId xmlns:a16="http://schemas.microsoft.com/office/drawing/2014/main" id="{DC5F79E8-8B80-A325-384E-AE3EB1F04F73}"/>
              </a:ext>
            </a:extLst>
          </p:cNvPr>
          <p:cNvSpPr/>
          <p:nvPr/>
        </p:nvSpPr>
        <p:spPr>
          <a:xfrm>
            <a:off x="9966960" y="1554480"/>
            <a:ext cx="173736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2" name="KPI dot Cancellation rate">
            <a:extLst>
              <a:ext uri="{FF2B5EF4-FFF2-40B4-BE49-F238E27FC236}">
                <a16:creationId xmlns:a16="http://schemas.microsoft.com/office/drawing/2014/main" id="{3221040D-7F6A-C05F-4191-54F068D410DB}"/>
              </a:ext>
            </a:extLst>
          </p:cNvPr>
          <p:cNvSpPr/>
          <p:nvPr/>
        </p:nvSpPr>
        <p:spPr>
          <a:xfrm>
            <a:off x="10149840" y="1737360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KPI label Cancellation rate">
            <a:extLst>
              <a:ext uri="{FF2B5EF4-FFF2-40B4-BE49-F238E27FC236}">
                <a16:creationId xmlns:a16="http://schemas.microsoft.com/office/drawing/2014/main" id="{2E23B445-A28C-BC3E-D804-FC2F1CD81382}"/>
              </a:ext>
            </a:extLst>
          </p:cNvPr>
          <p:cNvSpPr txBox="1"/>
          <p:nvPr/>
        </p:nvSpPr>
        <p:spPr>
          <a:xfrm>
            <a:off x="10378440" y="16642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Cancellation rate</a:t>
            </a:r>
            <a:endParaRPr lang="en-US" sz="1200" dirty="0"/>
          </a:p>
        </p:txBody>
      </p:sp>
      <p:sp>
        <p:nvSpPr>
          <p:cNvPr id="66" name="KPI value Cancellation rate">
            <a:extLst>
              <a:ext uri="{FF2B5EF4-FFF2-40B4-BE49-F238E27FC236}">
                <a16:creationId xmlns:a16="http://schemas.microsoft.com/office/drawing/2014/main" id="{3C9F4A14-F51C-4355-D95E-F94A2A2365EC}"/>
              </a:ext>
            </a:extLst>
          </p:cNvPr>
          <p:cNvSpPr txBox="1"/>
          <p:nvPr/>
        </p:nvSpPr>
        <p:spPr>
          <a:xfrm>
            <a:off x="10149840" y="20574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1.6%</a:t>
            </a:r>
            <a:endParaRPr lang="en-US" sz="2800" dirty="0"/>
          </a:p>
        </p:txBody>
      </p:sp>
      <p:sp>
        <p:nvSpPr>
          <p:cNvPr id="68" name="Daily revenue card">
            <a:extLst>
              <a:ext uri="{FF2B5EF4-FFF2-40B4-BE49-F238E27FC236}">
                <a16:creationId xmlns:a16="http://schemas.microsoft.com/office/drawing/2014/main" id="{65BE2F84-09C1-C178-DC7B-86EA398C4B4D}"/>
              </a:ext>
            </a:extLst>
          </p:cNvPr>
          <p:cNvSpPr/>
          <p:nvPr/>
        </p:nvSpPr>
        <p:spPr>
          <a:xfrm>
            <a:off x="457200" y="2971800"/>
            <a:ext cx="11247120" cy="3337560"/>
          </a:xfrm>
          <a:prstGeom prst="roundRect">
            <a:avLst>
              <a:gd name="adj" fmla="val 21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0" name="Card title: Daily revenue, October 2025">
            <a:extLst>
              <a:ext uri="{FF2B5EF4-FFF2-40B4-BE49-F238E27FC236}">
                <a16:creationId xmlns:a16="http://schemas.microsoft.com/office/drawing/2014/main" id="{F1DED64B-F708-887A-1DE3-CD546E98AC82}"/>
              </a:ext>
            </a:extLst>
          </p:cNvPr>
          <p:cNvSpPr txBox="1"/>
          <p:nvPr/>
        </p:nvSpPr>
        <p:spPr>
          <a:xfrm>
            <a:off x="685800" y="30815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Daily revenue, October 2025</a:t>
            </a:r>
            <a:endParaRPr lang="en-US" sz="1400" dirty="0"/>
          </a:p>
        </p:txBody>
      </p:sp>
      <p:graphicFrame>
        <p:nvGraphicFramePr>
          <p:cNvPr id="72" name="Chart 0">
            <a:extLst>
              <a:ext uri="{FF2B5EF4-FFF2-40B4-BE49-F238E27FC236}">
                <a16:creationId xmlns:a16="http://schemas.microsoft.com/office/drawing/2014/main" id="{BEEA50E0-C17C-8F7B-255D-E304B6107E31}"/>
              </a:ext>
            </a:extLst>
          </p:cNvPr>
          <p:cNvGraphicFramePr/>
          <p:nvPr/>
        </p:nvGraphicFramePr>
        <p:xfrm>
          <a:off x="640080" y="3383280"/>
          <a:ext cx="10881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3" name="TextBox 72">
            <a:extLst>
              <a:ext uri="{FF2B5EF4-FFF2-40B4-BE49-F238E27FC236}">
                <a16:creationId xmlns:a16="http://schemas.microsoft.com/office/drawing/2014/main" id="{59A38C35-4ABB-C686-814E-0D2F5C3312D7}"/>
              </a:ext>
            </a:extLst>
          </p:cNvPr>
          <p:cNvSpPr txBox="1"/>
          <p:nvPr/>
        </p:nvSpPr>
        <p:spPr>
          <a:xfrm>
            <a:off x="1455174" y="521110"/>
            <a:ext cx="3588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Executive overview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0E7299-205F-8EBC-101B-E43079C8672C}"/>
              </a:ext>
            </a:extLst>
          </p:cNvPr>
          <p:cNvSpPr/>
          <p:nvPr/>
        </p:nvSpPr>
        <p:spPr>
          <a:xfrm>
            <a:off x="0" y="6686550"/>
            <a:ext cx="12192000" cy="1714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846234"/>
      </p:ext>
    </p:extLst>
  </p:cSld>
  <p:clrMapOvr>
    <a:masterClrMapping/>
  </p:clrMapOvr>
  <p:transition spd="slow">
    <p:cover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7C12-8944-3D4A-AD23-8739823A7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81882D-14D1-B58C-AC5C-E076B7394BBA}"/>
              </a:ext>
            </a:extLst>
          </p:cNvPr>
          <p:cNvSpPr txBox="1"/>
          <p:nvPr/>
        </p:nvSpPr>
        <p:spPr>
          <a:xfrm>
            <a:off x="548640" y="228600"/>
            <a:ext cx="264899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rPr dirty="0">
                <a:solidFill>
                  <a:srgbClr val="FF0000"/>
                </a:solidFill>
              </a:rPr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04C01E-30EE-7D55-42EE-5836B4017AA2}"/>
              </a:ext>
            </a:extLst>
          </p:cNvPr>
          <p:cNvSpPr txBox="1"/>
          <p:nvPr/>
        </p:nvSpPr>
        <p:spPr>
          <a:xfrm>
            <a:off x="822960" y="1234440"/>
            <a:ext cx="8736687" cy="22313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rPr dirty="0"/>
              <a:t>Dataset </a:t>
            </a:r>
            <a:r>
              <a:rPr dirty="0" err="1"/>
              <a:t>si</a:t>
            </a:r>
            <a:r>
              <a:rPr lang="en-IN" dirty="0"/>
              <a:t>ze: 2000</a:t>
            </a:r>
            <a:r>
              <a:rPr dirty="0"/>
              <a:t> rows × </a:t>
            </a:r>
            <a:r>
              <a:rPr lang="en-US" dirty="0"/>
              <a:t>27</a:t>
            </a:r>
            <a:r>
              <a:rPr dirty="0"/>
              <a:t> columns</a:t>
            </a:r>
            <a:endParaRPr lang="en-US" dirty="0"/>
          </a:p>
          <a:p>
            <a:pPr>
              <a:defRPr sz="1700">
                <a:solidFill>
                  <a:srgbClr val="2D2D2D"/>
                </a:solidFill>
              </a:defRPr>
            </a:pPr>
            <a:endParaRPr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dirty="0"/>
              <a:t>• Sales: subtotal, </a:t>
            </a:r>
            <a:r>
              <a:rPr dirty="0" err="1"/>
              <a:t>discount_percent</a:t>
            </a:r>
            <a:r>
              <a:rPr dirty="0"/>
              <a:t>, </a:t>
            </a:r>
            <a:r>
              <a:rPr dirty="0" err="1"/>
              <a:t>tax_amount</a:t>
            </a:r>
            <a:r>
              <a:rPr dirty="0"/>
              <a:t>, </a:t>
            </a:r>
            <a:r>
              <a:rPr dirty="0" err="1"/>
              <a:t>service_fee</a:t>
            </a:r>
            <a:r>
              <a:rPr dirty="0"/>
              <a:t>, </a:t>
            </a:r>
            <a:r>
              <a:rPr dirty="0" err="1"/>
              <a:t>order_total</a:t>
            </a:r>
            <a:endParaRPr lang="en-US" dirty="0"/>
          </a:p>
          <a:p>
            <a:pPr>
              <a:defRPr sz="1500">
                <a:solidFill>
                  <a:srgbClr val="2D2D2D"/>
                </a:solidFill>
              </a:defRPr>
            </a:pPr>
            <a:endParaRPr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dirty="0"/>
              <a:t>• Delivery: </a:t>
            </a:r>
            <a:r>
              <a:rPr dirty="0" err="1"/>
              <a:t>distance_km</a:t>
            </a:r>
            <a:r>
              <a:rPr dirty="0"/>
              <a:t>, </a:t>
            </a:r>
            <a:r>
              <a:rPr dirty="0" err="1"/>
              <a:t>estimated_delivery_time_minutes</a:t>
            </a:r>
            <a:r>
              <a:rPr dirty="0"/>
              <a:t>, </a:t>
            </a:r>
            <a:r>
              <a:rPr dirty="0" err="1"/>
              <a:t>actual_delivery_time_minutes</a:t>
            </a:r>
            <a:r>
              <a:rPr dirty="0"/>
              <a:t>, </a:t>
            </a:r>
            <a:r>
              <a:rPr dirty="0" err="1"/>
              <a:t>late_delivery</a:t>
            </a:r>
            <a:endParaRPr lang="en-US" dirty="0"/>
          </a:p>
          <a:p>
            <a:pPr>
              <a:defRPr sz="1500">
                <a:solidFill>
                  <a:srgbClr val="2D2D2D"/>
                </a:solidFill>
              </a:defRPr>
            </a:pPr>
            <a:endParaRPr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dirty="0"/>
              <a:t>• Customer: </a:t>
            </a:r>
            <a:r>
              <a:rPr dirty="0" err="1"/>
              <a:t>customer_age</a:t>
            </a:r>
            <a:r>
              <a:rPr dirty="0"/>
              <a:t>, </a:t>
            </a:r>
            <a:r>
              <a:rPr dirty="0" err="1"/>
              <a:t>customer_type</a:t>
            </a:r>
            <a:r>
              <a:rPr dirty="0"/>
              <a:t>, </a:t>
            </a:r>
            <a:r>
              <a:rPr dirty="0" err="1"/>
              <a:t>customer_rating</a:t>
            </a:r>
            <a:endParaRPr lang="en-US" dirty="0"/>
          </a:p>
          <a:p>
            <a:pPr>
              <a:defRPr sz="1500">
                <a:solidFill>
                  <a:srgbClr val="2D2D2D"/>
                </a:solidFill>
              </a:defRPr>
            </a:pPr>
            <a:endParaRPr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dirty="0"/>
              <a:t>• Operations: restaurant type/category, weather, traffic, driver experience/rating, order status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4E3AE78-3008-E5B4-9351-BA88B801ED71}"/>
              </a:ext>
            </a:extLst>
          </p:cNvPr>
          <p:cNvSpPr/>
          <p:nvPr/>
        </p:nvSpPr>
        <p:spPr>
          <a:xfrm>
            <a:off x="640080" y="5806440"/>
            <a:ext cx="10881360" cy="640080"/>
          </a:xfrm>
          <a:prstGeom prst="roundRect">
            <a:avLst/>
          </a:prstGeom>
          <a:solidFill>
            <a:srgbClr val="F2F5F9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D2D2D"/>
                </a:solidFill>
              </a:defRPr>
            </a:pPr>
            <a:r>
              <a:rPr dirty="0"/>
              <a:t>Analysis: The uploaded dataset contains </a:t>
            </a:r>
            <a:r>
              <a:rPr lang="en-US" dirty="0"/>
              <a:t>2000 </a:t>
            </a:r>
            <a:r>
              <a:rPr dirty="0"/>
              <a:t>food delivery orders and supports sales, customer, delivery and operational analysis.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90708D-21D4-3934-C6A0-7DD725DD573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5743D2-E515-8DE8-67AE-557BA38C25D9}"/>
              </a:ext>
            </a:extLst>
          </p:cNvPr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9172830"/>
      </p:ext>
    </p:extLst>
  </p:cSld>
  <p:clrMapOvr>
    <a:masterClrMapping/>
  </p:clrMapOvr>
  <p:transition spd="slow">
    <p:cover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2282-E2EA-BCC6-ED2F-C983C899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D4E4A3-F89A-A447-8497-23B763B72E45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D025A29A-1358-9B96-B80E-C1BABDDE3E59}"/>
              </a:ext>
            </a:extLst>
          </p:cNvPr>
          <p:cNvSpPr txBox="1"/>
          <p:nvPr/>
        </p:nvSpPr>
        <p:spPr>
          <a:xfrm>
            <a:off x="820994" y="9372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City A and City B generate 72% of revenue from 70% of completed orders</a:t>
            </a:r>
          </a:p>
        </p:txBody>
      </p:sp>
      <p:sp>
        <p:nvSpPr>
          <p:cNvPr id="7" name="Revenue share card">
            <a:extLst>
              <a:ext uri="{FF2B5EF4-FFF2-40B4-BE49-F238E27FC236}">
                <a16:creationId xmlns:a16="http://schemas.microsoft.com/office/drawing/2014/main" id="{E6644A0F-7A5D-CAA2-F5D8-AD759B4B4BCF}"/>
              </a:ext>
            </a:extLst>
          </p:cNvPr>
          <p:cNvSpPr/>
          <p:nvPr/>
        </p:nvSpPr>
        <p:spPr>
          <a:xfrm>
            <a:off x="457200" y="1554480"/>
            <a:ext cx="5120640" cy="4754880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Card title: Revenue share by city">
            <a:extLst>
              <a:ext uri="{FF2B5EF4-FFF2-40B4-BE49-F238E27FC236}">
                <a16:creationId xmlns:a16="http://schemas.microsoft.com/office/drawing/2014/main" id="{EB98EFA9-620A-B7C6-F196-1182EA968319}"/>
              </a:ext>
            </a:extLst>
          </p:cNvPr>
          <p:cNvSpPr txBox="1"/>
          <p:nvPr/>
        </p:nvSpPr>
        <p:spPr>
          <a:xfrm>
            <a:off x="685800" y="1664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share by city</a:t>
            </a:r>
            <a:endParaRPr lang="en-US" sz="1400" dirty="0"/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559F67F8-020B-5A16-740C-AD36CCCF7B35}"/>
              </a:ext>
            </a:extLst>
          </p:cNvPr>
          <p:cNvGraphicFramePr/>
          <p:nvPr/>
        </p:nvGraphicFramePr>
        <p:xfrm>
          <a:off x="640080" y="2011680"/>
          <a:ext cx="4754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AOV card">
            <a:extLst>
              <a:ext uri="{FF2B5EF4-FFF2-40B4-BE49-F238E27FC236}">
                <a16:creationId xmlns:a16="http://schemas.microsoft.com/office/drawing/2014/main" id="{DC6F355B-1AC2-B7E3-F9AF-FFD2A3BE3974}"/>
              </a:ext>
            </a:extLst>
          </p:cNvPr>
          <p:cNvSpPr/>
          <p:nvPr/>
        </p:nvSpPr>
        <p:spPr>
          <a:xfrm>
            <a:off x="5852160" y="1554480"/>
            <a:ext cx="585216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Card title: Average order value by city">
            <a:extLst>
              <a:ext uri="{FF2B5EF4-FFF2-40B4-BE49-F238E27FC236}">
                <a16:creationId xmlns:a16="http://schemas.microsoft.com/office/drawing/2014/main" id="{F6D73ABC-62C4-682D-E958-EF76A0E6F681}"/>
              </a:ext>
            </a:extLst>
          </p:cNvPr>
          <p:cNvSpPr txBox="1"/>
          <p:nvPr/>
        </p:nvSpPr>
        <p:spPr>
          <a:xfrm>
            <a:off x="6080760" y="166420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order value by city</a:t>
            </a:r>
            <a:endParaRPr lang="en-US" sz="1400" dirty="0"/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9E0408A7-4F2A-2AE2-98C7-334B14481A64}"/>
              </a:ext>
            </a:extLst>
          </p:cNvPr>
          <p:cNvGraphicFramePr/>
          <p:nvPr/>
        </p:nvGraphicFramePr>
        <p:xfrm>
          <a:off x="6035040" y="201168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lide Number Placeholder 0">
            <a:extLst>
              <a:ext uri="{FF2B5EF4-FFF2-40B4-BE49-F238E27FC236}">
                <a16:creationId xmlns:a16="http://schemas.microsoft.com/office/drawing/2014/main" id="{39C45550-2CEA-39B4-1DDD-F28B7CA7442C}"/>
              </a:ext>
            </a:extLst>
          </p:cNvPr>
          <p:cNvSpPr txBox="1">
            <a:spLocks/>
          </p:cNvSpPr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1" kern="1200" cap="all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b="0" smtClean="0"/>
              <a:pPr/>
              <a:t>18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6F7C96-615E-BF59-4A6E-652E92EE85C9}"/>
              </a:ext>
            </a:extLst>
          </p:cNvPr>
          <p:cNvSpPr txBox="1"/>
          <p:nvPr/>
        </p:nvSpPr>
        <p:spPr>
          <a:xfrm>
            <a:off x="2749468" y="430768"/>
            <a:ext cx="6017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Cities A and B drive 72% of revenue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C30D77-CD95-400D-DD88-C8F64CF94248}"/>
              </a:ext>
            </a:extLst>
          </p:cNvPr>
          <p:cNvSpPr/>
          <p:nvPr/>
        </p:nvSpPr>
        <p:spPr>
          <a:xfrm>
            <a:off x="0" y="6629400"/>
            <a:ext cx="12192000" cy="2514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30891"/>
      </p:ext>
    </p:extLst>
  </p:cSld>
  <p:clrMapOvr>
    <a:masterClrMapping/>
  </p:clrMapOvr>
  <p:transition spd="slow">
    <p:cover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2C0A-D58D-DABA-E89F-F2696D8A0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">
            <a:extLst>
              <a:ext uri="{FF2B5EF4-FFF2-40B4-BE49-F238E27FC236}">
                <a16:creationId xmlns:a16="http://schemas.microsoft.com/office/drawing/2014/main" id="{9AB65E60-52C8-4D27-D170-65F363B62FF3}"/>
              </a:ext>
            </a:extLst>
          </p:cNvPr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Fast food and casual dining bring 83% of revenue; a fine dining order is worth 3.3 a fast-food order</a:t>
            </a:r>
          </a:p>
        </p:txBody>
      </p:sp>
      <p:sp>
        <p:nvSpPr>
          <p:cNvPr id="7" name="Revenue by type card">
            <a:extLst>
              <a:ext uri="{FF2B5EF4-FFF2-40B4-BE49-F238E27FC236}">
                <a16:creationId xmlns:a16="http://schemas.microsoft.com/office/drawing/2014/main" id="{7E9B0484-F626-C3D2-CB54-741D2CEA4F81}"/>
              </a:ext>
            </a:extLst>
          </p:cNvPr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 title: Revenue by restaurant type (K)">
            <a:extLst>
              <a:ext uri="{FF2B5EF4-FFF2-40B4-BE49-F238E27FC236}">
                <a16:creationId xmlns:a16="http://schemas.microsoft.com/office/drawing/2014/main" id="{63176A3C-2612-FE57-5F9E-7E16D12B5C14}"/>
              </a:ext>
            </a:extLst>
          </p:cNvPr>
          <p:cNvSpPr txBox="1"/>
          <p:nvPr/>
        </p:nvSpPr>
        <p:spPr>
          <a:xfrm>
            <a:off x="68580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by restaurant type (K)</a:t>
            </a:r>
            <a:endParaRPr lang="en-US" sz="1400" dirty="0"/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89C57863-FB06-9225-92E2-FD264D97B2C1}"/>
              </a:ext>
            </a:extLst>
          </p:cNvPr>
          <p:cNvGraphicFramePr/>
          <p:nvPr/>
        </p:nvGraphicFramePr>
        <p:xfrm>
          <a:off x="640080" y="2011680"/>
          <a:ext cx="5120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AOV by type card">
            <a:extLst>
              <a:ext uri="{FF2B5EF4-FFF2-40B4-BE49-F238E27FC236}">
                <a16:creationId xmlns:a16="http://schemas.microsoft.com/office/drawing/2014/main" id="{D7693EE2-DE26-FB67-4A5B-01B2B89C071C}"/>
              </a:ext>
            </a:extLst>
          </p:cNvPr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Card title: Average order value by restaurant type">
            <a:extLst>
              <a:ext uri="{FF2B5EF4-FFF2-40B4-BE49-F238E27FC236}">
                <a16:creationId xmlns:a16="http://schemas.microsoft.com/office/drawing/2014/main" id="{7CC9960D-1FA3-EE87-B9AF-584215004761}"/>
              </a:ext>
            </a:extLst>
          </p:cNvPr>
          <p:cNvSpPr txBox="1"/>
          <p:nvPr/>
        </p:nvSpPr>
        <p:spPr>
          <a:xfrm>
            <a:off x="64465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order value by restaurant type</a:t>
            </a:r>
            <a:endParaRPr lang="en-US" sz="1400" dirty="0"/>
          </a:p>
        </p:txBody>
      </p:sp>
      <p:graphicFrame>
        <p:nvGraphicFramePr>
          <p:cNvPr id="14" name="Chart 1">
            <a:extLst>
              <a:ext uri="{FF2B5EF4-FFF2-40B4-BE49-F238E27FC236}">
                <a16:creationId xmlns:a16="http://schemas.microsoft.com/office/drawing/2014/main" id="{09394223-9B84-B1FB-BC97-EEE116DD9507}"/>
              </a:ext>
            </a:extLst>
          </p:cNvPr>
          <p:cNvGraphicFramePr/>
          <p:nvPr/>
        </p:nvGraphicFramePr>
        <p:xfrm>
          <a:off x="6400800" y="2011680"/>
          <a:ext cx="5120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lide Number Placeholder 0">
            <a:extLst>
              <a:ext uri="{FF2B5EF4-FFF2-40B4-BE49-F238E27FC236}">
                <a16:creationId xmlns:a16="http://schemas.microsoft.com/office/drawing/2014/main" id="{3889218E-9E82-78B4-9B40-A12A0BEC4190}"/>
              </a:ext>
            </a:extLst>
          </p:cNvPr>
          <p:cNvSpPr txBox="1">
            <a:spLocks/>
          </p:cNvSpPr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1" kern="1200" cap="all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b="0" smtClean="0"/>
              <a:pPr/>
              <a:t>19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8437D1-E215-A5F4-4CC3-2D5584AC8475}"/>
              </a:ext>
            </a:extLst>
          </p:cNvPr>
          <p:cNvSpPr txBox="1"/>
          <p:nvPr/>
        </p:nvSpPr>
        <p:spPr>
          <a:xfrm>
            <a:off x="3952568" y="291822"/>
            <a:ext cx="570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Casual and fast-food lead revenue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5C61A0-D730-A5D2-068A-E9C1E91DCC94}"/>
              </a:ext>
            </a:extLst>
          </p:cNvPr>
          <p:cNvSpPr/>
          <p:nvPr/>
        </p:nvSpPr>
        <p:spPr>
          <a:xfrm>
            <a:off x="0" y="6640830"/>
            <a:ext cx="12192000" cy="2171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75940"/>
      </p:ext>
    </p:extLst>
  </p:cSld>
  <p:clrMapOvr>
    <a:masterClrMapping/>
  </p:clrMapOvr>
  <p:transition spd="slow">
    <p:cover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DDFE-66D0-F285-9FB7-517FD16D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">
            <a:extLst>
              <a:ext uri="{FF2B5EF4-FFF2-40B4-BE49-F238E27FC236}">
                <a16:creationId xmlns:a16="http://schemas.microsoft.com/office/drawing/2014/main" id="{4F529696-A3BF-83A5-7190-04F04110B3BA}"/>
              </a:ext>
            </a:extLst>
          </p:cNvPr>
          <p:cNvSpPr txBox="1"/>
          <p:nvPr/>
        </p:nvSpPr>
        <p:spPr>
          <a:xfrm>
            <a:off x="64008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Burger and Local account for 60% of completed orders and 57% of revenue</a:t>
            </a:r>
          </a:p>
        </p:txBody>
      </p:sp>
      <p:sp>
        <p:nvSpPr>
          <p:cNvPr id="6" name="Revenue by category card">
            <a:extLst>
              <a:ext uri="{FF2B5EF4-FFF2-40B4-BE49-F238E27FC236}">
                <a16:creationId xmlns:a16="http://schemas.microsoft.com/office/drawing/2014/main" id="{898062F8-D1B4-7041-04CD-BF18F89EE72F}"/>
              </a:ext>
            </a:extLst>
          </p:cNvPr>
          <p:cNvSpPr/>
          <p:nvPr/>
        </p:nvSpPr>
        <p:spPr>
          <a:xfrm>
            <a:off x="457200" y="1554480"/>
            <a:ext cx="694944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 title: Revenue by food category (K)">
            <a:extLst>
              <a:ext uri="{FF2B5EF4-FFF2-40B4-BE49-F238E27FC236}">
                <a16:creationId xmlns:a16="http://schemas.microsoft.com/office/drawing/2014/main" id="{94A27FED-EDAB-1460-E334-7CE85AEAF359}"/>
              </a:ext>
            </a:extLst>
          </p:cNvPr>
          <p:cNvSpPr txBox="1"/>
          <p:nvPr/>
        </p:nvSpPr>
        <p:spPr>
          <a:xfrm>
            <a:off x="685800" y="1664208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Revenue by food category (K)</a:t>
            </a:r>
            <a:endParaRPr lang="en-US" sz="14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83D6C3B3-ADCD-2121-562E-CBD1ED33444D}"/>
              </a:ext>
            </a:extLst>
          </p:cNvPr>
          <p:cNvGraphicFramePr/>
          <p:nvPr/>
        </p:nvGraphicFramePr>
        <p:xfrm>
          <a:off x="640080" y="2011680"/>
          <a:ext cx="65836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tat burger">
            <a:extLst>
              <a:ext uri="{FF2B5EF4-FFF2-40B4-BE49-F238E27FC236}">
                <a16:creationId xmlns:a16="http://schemas.microsoft.com/office/drawing/2014/main" id="{093BE6C0-05FD-23FF-0586-D42C3A0A836E}"/>
              </a:ext>
            </a:extLst>
          </p:cNvPr>
          <p:cNvSpPr/>
          <p:nvPr/>
        </p:nvSpPr>
        <p:spPr>
          <a:xfrm>
            <a:off x="7680960" y="15544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tat burger dot">
            <a:extLst>
              <a:ext uri="{FF2B5EF4-FFF2-40B4-BE49-F238E27FC236}">
                <a16:creationId xmlns:a16="http://schemas.microsoft.com/office/drawing/2014/main" id="{E549DE75-9EB3-33C8-945F-024E63FD6538}"/>
              </a:ext>
            </a:extLst>
          </p:cNvPr>
          <p:cNvSpPr/>
          <p:nvPr/>
        </p:nvSpPr>
        <p:spPr>
          <a:xfrm>
            <a:off x="7909560" y="17830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at burger value">
            <a:extLst>
              <a:ext uri="{FF2B5EF4-FFF2-40B4-BE49-F238E27FC236}">
                <a16:creationId xmlns:a16="http://schemas.microsoft.com/office/drawing/2014/main" id="{409DC90D-ECB2-7718-BD26-38542727506F}"/>
              </a:ext>
            </a:extLst>
          </p:cNvPr>
          <p:cNvSpPr txBox="1"/>
          <p:nvPr/>
        </p:nvSpPr>
        <p:spPr>
          <a:xfrm>
            <a:off x="8229600" y="16642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33%</a:t>
            </a:r>
            <a:endParaRPr lang="en-US" sz="2800" dirty="0"/>
          </a:p>
        </p:txBody>
      </p:sp>
      <p:sp>
        <p:nvSpPr>
          <p:cNvPr id="16" name="Stat burger label">
            <a:extLst>
              <a:ext uri="{FF2B5EF4-FFF2-40B4-BE49-F238E27FC236}">
                <a16:creationId xmlns:a16="http://schemas.microsoft.com/office/drawing/2014/main" id="{CFCE7257-1067-D781-3343-55FC5B4DA571}"/>
              </a:ext>
            </a:extLst>
          </p:cNvPr>
          <p:cNvSpPr txBox="1"/>
          <p:nvPr/>
        </p:nvSpPr>
        <p:spPr>
          <a:xfrm>
            <a:off x="790956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of orders are Burgers, the single biggest category (651 orders)</a:t>
            </a:r>
            <a:endParaRPr lang="en-US" sz="1400" dirty="0"/>
          </a:p>
        </p:txBody>
      </p:sp>
      <p:sp>
        <p:nvSpPr>
          <p:cNvPr id="18" name="Stat aov">
            <a:extLst>
              <a:ext uri="{FF2B5EF4-FFF2-40B4-BE49-F238E27FC236}">
                <a16:creationId xmlns:a16="http://schemas.microsoft.com/office/drawing/2014/main" id="{E89D18E0-F5DA-7B15-DDCD-22031189C56B}"/>
              </a:ext>
            </a:extLst>
          </p:cNvPr>
          <p:cNvSpPr/>
          <p:nvPr/>
        </p:nvSpPr>
        <p:spPr>
          <a:xfrm>
            <a:off x="7680960" y="315468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tat aov dot">
            <a:extLst>
              <a:ext uri="{FF2B5EF4-FFF2-40B4-BE49-F238E27FC236}">
                <a16:creationId xmlns:a16="http://schemas.microsoft.com/office/drawing/2014/main" id="{E19C4CC3-4D04-D763-4DD0-97170A9BD855}"/>
              </a:ext>
            </a:extLst>
          </p:cNvPr>
          <p:cNvSpPr/>
          <p:nvPr/>
        </p:nvSpPr>
        <p:spPr>
          <a:xfrm>
            <a:off x="7909560" y="33832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tat aov value">
            <a:extLst>
              <a:ext uri="{FF2B5EF4-FFF2-40B4-BE49-F238E27FC236}">
                <a16:creationId xmlns:a16="http://schemas.microsoft.com/office/drawing/2014/main" id="{F95976E0-D765-99FC-4FCA-416F46B0C6C1}"/>
              </a:ext>
            </a:extLst>
          </p:cNvPr>
          <p:cNvSpPr txBox="1"/>
          <p:nvPr/>
        </p:nvSpPr>
        <p:spPr>
          <a:xfrm>
            <a:off x="8229600" y="3264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44</a:t>
            </a:r>
            <a:endParaRPr lang="en-US" sz="2800" dirty="0"/>
          </a:p>
        </p:txBody>
      </p:sp>
      <p:sp>
        <p:nvSpPr>
          <p:cNvPr id="23" name="Stat aov label">
            <a:extLst>
              <a:ext uri="{FF2B5EF4-FFF2-40B4-BE49-F238E27FC236}">
                <a16:creationId xmlns:a16="http://schemas.microsoft.com/office/drawing/2014/main" id="{06AA9637-21C0-9AA0-66EB-80D6BC5B4044}"/>
              </a:ext>
            </a:extLst>
          </p:cNvPr>
          <p:cNvSpPr txBox="1"/>
          <p:nvPr/>
        </p:nvSpPr>
        <p:spPr>
          <a:xfrm>
            <a:off x="7909560" y="3749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average order value for Asian and Healthy, the highest of any category</a:t>
            </a:r>
            <a:endParaRPr lang="en-US" sz="1400" dirty="0"/>
          </a:p>
        </p:txBody>
      </p:sp>
      <p:sp>
        <p:nvSpPr>
          <p:cNvPr id="24" name="Stat healthy">
            <a:extLst>
              <a:ext uri="{FF2B5EF4-FFF2-40B4-BE49-F238E27FC236}">
                <a16:creationId xmlns:a16="http://schemas.microsoft.com/office/drawing/2014/main" id="{2D026B50-4342-BD06-6CDA-F58530BE5B6C}"/>
              </a:ext>
            </a:extLst>
          </p:cNvPr>
          <p:cNvSpPr/>
          <p:nvPr/>
        </p:nvSpPr>
        <p:spPr>
          <a:xfrm>
            <a:off x="7680960" y="47548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tat healthy dot">
            <a:extLst>
              <a:ext uri="{FF2B5EF4-FFF2-40B4-BE49-F238E27FC236}">
                <a16:creationId xmlns:a16="http://schemas.microsoft.com/office/drawing/2014/main" id="{3EED4AAB-1A9E-7134-5965-50C8D1722907}"/>
              </a:ext>
            </a:extLst>
          </p:cNvPr>
          <p:cNvSpPr/>
          <p:nvPr/>
        </p:nvSpPr>
        <p:spPr>
          <a:xfrm>
            <a:off x="7909560" y="4983480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tat healthy value">
            <a:extLst>
              <a:ext uri="{FF2B5EF4-FFF2-40B4-BE49-F238E27FC236}">
                <a16:creationId xmlns:a16="http://schemas.microsoft.com/office/drawing/2014/main" id="{AB4F9718-56F1-E7DC-7BE1-984833B2F810}"/>
              </a:ext>
            </a:extLst>
          </p:cNvPr>
          <p:cNvSpPr txBox="1"/>
          <p:nvPr/>
        </p:nvSpPr>
        <p:spPr>
          <a:xfrm>
            <a:off x="8229600" y="48646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4.36</a:t>
            </a:r>
            <a:endParaRPr lang="en-US" sz="2800" dirty="0"/>
          </a:p>
        </p:txBody>
      </p:sp>
      <p:sp>
        <p:nvSpPr>
          <p:cNvPr id="27" name="Stat healthy label">
            <a:extLst>
              <a:ext uri="{FF2B5EF4-FFF2-40B4-BE49-F238E27FC236}">
                <a16:creationId xmlns:a16="http://schemas.microsoft.com/office/drawing/2014/main" id="{D38D334F-9218-BE0A-2249-2593301EA8AA}"/>
              </a:ext>
            </a:extLst>
          </p:cNvPr>
          <p:cNvSpPr txBox="1"/>
          <p:nvPr/>
        </p:nvSpPr>
        <p:spPr>
          <a:xfrm>
            <a:off x="7909560" y="5349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Healthy has the best rating and the highest average tip (2.23)</a:t>
            </a:r>
            <a:endParaRPr lang="en-US" sz="1400" dirty="0"/>
          </a:p>
        </p:txBody>
      </p:sp>
      <p:sp>
        <p:nvSpPr>
          <p:cNvPr id="28" name="Slide Number Placeholder 0">
            <a:extLst>
              <a:ext uri="{FF2B5EF4-FFF2-40B4-BE49-F238E27FC236}">
                <a16:creationId xmlns:a16="http://schemas.microsoft.com/office/drawing/2014/main" id="{A26DD7EF-67E6-7AC7-E7BF-1E776F3D65BF}"/>
              </a:ext>
            </a:extLst>
          </p:cNvPr>
          <p:cNvSpPr txBox="1">
            <a:spLocks/>
          </p:cNvSpPr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1" kern="1200" cap="all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b="0" smtClean="0"/>
              <a:pPr/>
              <a:t>20</a:t>
            </a:fld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55ABEB-22F5-1CA9-D7FB-73DC47F33F27}"/>
              </a:ext>
            </a:extLst>
          </p:cNvPr>
          <p:cNvSpPr txBox="1"/>
          <p:nvPr/>
        </p:nvSpPr>
        <p:spPr>
          <a:xfrm>
            <a:off x="3476730" y="251209"/>
            <a:ext cx="523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Burgers and local dishes dominate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A4F91-0A74-8FB5-DA2D-3FA93E6562EA}"/>
              </a:ext>
            </a:extLst>
          </p:cNvPr>
          <p:cNvSpPr/>
          <p:nvPr/>
        </p:nvSpPr>
        <p:spPr>
          <a:xfrm>
            <a:off x="0" y="6640830"/>
            <a:ext cx="12192000" cy="2171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143986"/>
      </p:ext>
    </p:extLst>
  </p:cSld>
  <p:clrMapOvr>
    <a:masterClrMapping/>
  </p:clrMapOvr>
  <p:transition spd="slow">
    <p:cover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EF9D-51DA-3937-CF47-1A830BDB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8C8E09F-2407-8E98-E550-825C688839A3}"/>
              </a:ext>
            </a:extLst>
          </p:cNvPr>
          <p:cNvSpPr txBox="1">
            <a:spLocks/>
          </p:cNvSpPr>
          <p:nvPr/>
        </p:nvSpPr>
        <p:spPr>
          <a:xfrm>
            <a:off x="555522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FF0000"/>
                </a:solidFill>
                <a:latin typeface="Abadi" panose="020B0604020104020204" pitchFamily="34" charset="0"/>
              </a:rPr>
              <a:t>Lunch and dinner peaks drive demand</a:t>
            </a:r>
            <a:endParaRPr lang="en-US" sz="34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5F6D323-320F-475A-6D5C-38E580F788EC}"/>
              </a:ext>
            </a:extLst>
          </p:cNvPr>
          <p:cNvSpPr txBox="1"/>
          <p:nvPr/>
        </p:nvSpPr>
        <p:spPr>
          <a:xfrm>
            <a:off x="1263445" y="85039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Lunch (11-14h) and dinner (18-21h) generate 63% of all completed orders</a:t>
            </a:r>
          </a:p>
        </p:txBody>
      </p:sp>
      <p:sp>
        <p:nvSpPr>
          <p:cNvPr id="6" name="Hourly card">
            <a:extLst>
              <a:ext uri="{FF2B5EF4-FFF2-40B4-BE49-F238E27FC236}">
                <a16:creationId xmlns:a16="http://schemas.microsoft.com/office/drawing/2014/main" id="{015A0448-2F7D-8E2D-38CE-0561E4BAEBE4}"/>
              </a:ext>
            </a:extLst>
          </p:cNvPr>
          <p:cNvSpPr/>
          <p:nvPr/>
        </p:nvSpPr>
        <p:spPr>
          <a:xfrm>
            <a:off x="457200" y="1554480"/>
            <a:ext cx="795528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 title: Orders by hour of day (peak windows highlighted)">
            <a:extLst>
              <a:ext uri="{FF2B5EF4-FFF2-40B4-BE49-F238E27FC236}">
                <a16:creationId xmlns:a16="http://schemas.microsoft.com/office/drawing/2014/main" id="{26275F0C-DE7D-CB5A-E83D-7577EC22391B}"/>
              </a:ext>
            </a:extLst>
          </p:cNvPr>
          <p:cNvSpPr txBox="1"/>
          <p:nvPr/>
        </p:nvSpPr>
        <p:spPr>
          <a:xfrm>
            <a:off x="685800" y="16642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Orders by hour of day (peak windows highlighted)</a:t>
            </a:r>
            <a:endParaRPr lang="en-US" sz="14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1D93A4EF-BE48-0740-3040-9A0DD045C2DD}"/>
              </a:ext>
            </a:extLst>
          </p:cNvPr>
          <p:cNvGraphicFramePr/>
          <p:nvPr/>
        </p:nvGraphicFramePr>
        <p:xfrm>
          <a:off x="640080" y="2011680"/>
          <a:ext cx="7589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Stat dinner">
            <a:extLst>
              <a:ext uri="{FF2B5EF4-FFF2-40B4-BE49-F238E27FC236}">
                <a16:creationId xmlns:a16="http://schemas.microsoft.com/office/drawing/2014/main" id="{A237A81A-72FA-F4CF-59A2-E642C4A9873D}"/>
              </a:ext>
            </a:extLst>
          </p:cNvPr>
          <p:cNvSpPr/>
          <p:nvPr/>
        </p:nvSpPr>
        <p:spPr>
          <a:xfrm>
            <a:off x="8686800" y="155448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tat dinner dot">
            <a:extLst>
              <a:ext uri="{FF2B5EF4-FFF2-40B4-BE49-F238E27FC236}">
                <a16:creationId xmlns:a16="http://schemas.microsoft.com/office/drawing/2014/main" id="{30500C5E-7F86-2ACB-4EE6-35ACF5EDBFBD}"/>
              </a:ext>
            </a:extLst>
          </p:cNvPr>
          <p:cNvSpPr/>
          <p:nvPr/>
        </p:nvSpPr>
        <p:spPr>
          <a:xfrm>
            <a:off x="8915400" y="17830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tat dinner value">
            <a:extLst>
              <a:ext uri="{FF2B5EF4-FFF2-40B4-BE49-F238E27FC236}">
                <a16:creationId xmlns:a16="http://schemas.microsoft.com/office/drawing/2014/main" id="{FE640BA6-510B-E32C-8033-05E52F496746}"/>
              </a:ext>
            </a:extLst>
          </p:cNvPr>
          <p:cNvSpPr txBox="1"/>
          <p:nvPr/>
        </p:nvSpPr>
        <p:spPr>
          <a:xfrm>
            <a:off x="9235440" y="1664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651</a:t>
            </a:r>
            <a:endParaRPr lang="en-US" sz="2800" dirty="0"/>
          </a:p>
        </p:txBody>
      </p:sp>
      <p:sp>
        <p:nvSpPr>
          <p:cNvPr id="15" name="Stat dinner label">
            <a:extLst>
              <a:ext uri="{FF2B5EF4-FFF2-40B4-BE49-F238E27FC236}">
                <a16:creationId xmlns:a16="http://schemas.microsoft.com/office/drawing/2014/main" id="{ECB2FFE0-88A5-1A7E-76C1-38AB33886C89}"/>
              </a:ext>
            </a:extLst>
          </p:cNvPr>
          <p:cNvSpPr txBox="1"/>
          <p:nvPr/>
        </p:nvSpPr>
        <p:spPr>
          <a:xfrm>
            <a:off x="8915400" y="2148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Dinner orders (33%)</a:t>
            </a:r>
            <a:endParaRPr lang="en-US" sz="1400" dirty="0"/>
          </a:p>
        </p:txBody>
      </p:sp>
      <p:sp>
        <p:nvSpPr>
          <p:cNvPr id="16" name="Stat lunch">
            <a:extLst>
              <a:ext uri="{FF2B5EF4-FFF2-40B4-BE49-F238E27FC236}">
                <a16:creationId xmlns:a16="http://schemas.microsoft.com/office/drawing/2014/main" id="{BC789C2A-D9ED-95F6-662D-CDC55CA68207}"/>
              </a:ext>
            </a:extLst>
          </p:cNvPr>
          <p:cNvSpPr/>
          <p:nvPr/>
        </p:nvSpPr>
        <p:spPr>
          <a:xfrm>
            <a:off x="8686800" y="3154680"/>
            <a:ext cx="3017520" cy="1417320"/>
          </a:xfrm>
          <a:prstGeom prst="roundRect">
            <a:avLst>
              <a:gd name="adj" fmla="val 516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tat lunch dot">
            <a:extLst>
              <a:ext uri="{FF2B5EF4-FFF2-40B4-BE49-F238E27FC236}">
                <a16:creationId xmlns:a16="http://schemas.microsoft.com/office/drawing/2014/main" id="{EC5B4F03-BB41-764A-4246-86995C4B090B}"/>
              </a:ext>
            </a:extLst>
          </p:cNvPr>
          <p:cNvSpPr/>
          <p:nvPr/>
        </p:nvSpPr>
        <p:spPr>
          <a:xfrm>
            <a:off x="8915400" y="33832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tat lunch value">
            <a:extLst>
              <a:ext uri="{FF2B5EF4-FFF2-40B4-BE49-F238E27FC236}">
                <a16:creationId xmlns:a16="http://schemas.microsoft.com/office/drawing/2014/main" id="{BE6EB870-6C28-EAEE-08A0-356BEF1838D1}"/>
              </a:ext>
            </a:extLst>
          </p:cNvPr>
          <p:cNvSpPr txBox="1"/>
          <p:nvPr/>
        </p:nvSpPr>
        <p:spPr>
          <a:xfrm>
            <a:off x="9235440" y="3264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582</a:t>
            </a:r>
            <a:endParaRPr lang="en-US" sz="2800" dirty="0"/>
          </a:p>
        </p:txBody>
      </p:sp>
      <p:sp>
        <p:nvSpPr>
          <p:cNvPr id="19" name="Stat lunch label">
            <a:extLst>
              <a:ext uri="{FF2B5EF4-FFF2-40B4-BE49-F238E27FC236}">
                <a16:creationId xmlns:a16="http://schemas.microsoft.com/office/drawing/2014/main" id="{C191F7CC-3446-8D1F-DE0E-2FFCB5F2A420}"/>
              </a:ext>
            </a:extLst>
          </p:cNvPr>
          <p:cNvSpPr txBox="1"/>
          <p:nvPr/>
        </p:nvSpPr>
        <p:spPr>
          <a:xfrm>
            <a:off x="891540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Lunch orders (30%)</a:t>
            </a:r>
            <a:endParaRPr lang="en-US" sz="1400" dirty="0"/>
          </a:p>
        </p:txBody>
      </p:sp>
      <p:sp>
        <p:nvSpPr>
          <p:cNvPr id="20" name="Stat night">
            <a:extLst>
              <a:ext uri="{FF2B5EF4-FFF2-40B4-BE49-F238E27FC236}">
                <a16:creationId xmlns:a16="http://schemas.microsoft.com/office/drawing/2014/main" id="{FF7EEAF7-47F1-FC73-0D2A-79F585EB8D59}"/>
              </a:ext>
            </a:extLst>
          </p:cNvPr>
          <p:cNvSpPr/>
          <p:nvPr/>
        </p:nvSpPr>
        <p:spPr>
          <a:xfrm>
            <a:off x="8686800" y="4754880"/>
            <a:ext cx="30175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tat night dot">
            <a:extLst>
              <a:ext uri="{FF2B5EF4-FFF2-40B4-BE49-F238E27FC236}">
                <a16:creationId xmlns:a16="http://schemas.microsoft.com/office/drawing/2014/main" id="{5FFF097B-A2BB-0089-6830-AEA9D586A4A1}"/>
              </a:ext>
            </a:extLst>
          </p:cNvPr>
          <p:cNvSpPr/>
          <p:nvPr/>
        </p:nvSpPr>
        <p:spPr>
          <a:xfrm>
            <a:off x="8915400" y="498348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tat night value">
            <a:extLst>
              <a:ext uri="{FF2B5EF4-FFF2-40B4-BE49-F238E27FC236}">
                <a16:creationId xmlns:a16="http://schemas.microsoft.com/office/drawing/2014/main" id="{13097CFC-277E-3760-8432-4DC24AE2539F}"/>
              </a:ext>
            </a:extLst>
          </p:cNvPr>
          <p:cNvSpPr txBox="1"/>
          <p:nvPr/>
        </p:nvSpPr>
        <p:spPr>
          <a:xfrm>
            <a:off x="9235440" y="48646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104</a:t>
            </a:r>
            <a:endParaRPr lang="en-US" sz="2800" dirty="0"/>
          </a:p>
        </p:txBody>
      </p:sp>
      <p:sp>
        <p:nvSpPr>
          <p:cNvPr id="23" name="Stat night label">
            <a:extLst>
              <a:ext uri="{FF2B5EF4-FFF2-40B4-BE49-F238E27FC236}">
                <a16:creationId xmlns:a16="http://schemas.microsoft.com/office/drawing/2014/main" id="{E77BA53E-BF51-ED54-3AAC-3DEE40E77D67}"/>
              </a:ext>
            </a:extLst>
          </p:cNvPr>
          <p:cNvSpPr txBox="1"/>
          <p:nvPr/>
        </p:nvSpPr>
        <p:spPr>
          <a:xfrm>
            <a:off x="8915400" y="5349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Orders between 0-5h (5%)</a:t>
            </a:r>
            <a:endParaRPr lang="en-US" sz="1400" dirty="0"/>
          </a:p>
        </p:txBody>
      </p:sp>
      <p:sp>
        <p:nvSpPr>
          <p:cNvPr id="24" name="Slide Number Placeholder 0">
            <a:extLst>
              <a:ext uri="{FF2B5EF4-FFF2-40B4-BE49-F238E27FC236}">
                <a16:creationId xmlns:a16="http://schemas.microsoft.com/office/drawing/2014/main" id="{712B5885-48FF-1B9C-E19C-ADD3ACC87CA1}"/>
              </a:ext>
            </a:extLst>
          </p:cNvPr>
          <p:cNvSpPr txBox="1">
            <a:spLocks/>
          </p:cNvSpPr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1" kern="1200" cap="all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b="0" smtClean="0"/>
              <a:pPr/>
              <a:t>21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F0705-0DE0-EC01-2A18-F871F741EEBB}"/>
              </a:ext>
            </a:extLst>
          </p:cNvPr>
          <p:cNvSpPr/>
          <p:nvPr/>
        </p:nvSpPr>
        <p:spPr>
          <a:xfrm>
            <a:off x="0" y="6595110"/>
            <a:ext cx="12192000" cy="3657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406976"/>
      </p:ext>
    </p:extLst>
  </p:cSld>
  <p:clrMapOvr>
    <a:masterClrMapping/>
  </p:clrMapOvr>
  <p:transition spd="slow">
    <p:cover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37AA-4B5A-772D-D876-C52337C5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0CDDCFA-335B-504C-2EE4-EEEE7B860F7D}"/>
              </a:ext>
            </a:extLst>
          </p:cNvPr>
          <p:cNvSpPr txBox="1">
            <a:spLocks/>
          </p:cNvSpPr>
          <p:nvPr/>
        </p:nvSpPr>
        <p:spPr>
          <a:xfrm>
            <a:off x="685800" y="173736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FF0000"/>
                </a:solidFill>
                <a:latin typeface="Abadi" panose="020B0604020104020204" pitchFamily="34" charset="0"/>
              </a:rPr>
              <a:t>Distance is the biggest delay driver</a:t>
            </a:r>
            <a:endParaRPr lang="en-US" sz="34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345C0589-80FC-9A8E-C00A-71992FFFD961}"/>
              </a:ext>
            </a:extLst>
          </p:cNvPr>
          <p:cNvSpPr txBox="1"/>
          <p:nvPr/>
        </p:nvSpPr>
        <p:spPr>
          <a:xfrm>
            <a:off x="934064" y="914400"/>
            <a:ext cx="10998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Delivery time climbs from 23 min under 2 km to 60 min beyond 8 km (correlation 0.77)</a:t>
            </a:r>
          </a:p>
        </p:txBody>
      </p:sp>
      <p:sp>
        <p:nvSpPr>
          <p:cNvPr id="6" name="Delivery by distance card">
            <a:extLst>
              <a:ext uri="{FF2B5EF4-FFF2-40B4-BE49-F238E27FC236}">
                <a16:creationId xmlns:a16="http://schemas.microsoft.com/office/drawing/2014/main" id="{55DC4EA7-E203-7DDA-2EA2-9A95C9E082EC}"/>
              </a:ext>
            </a:extLst>
          </p:cNvPr>
          <p:cNvSpPr/>
          <p:nvPr/>
        </p:nvSpPr>
        <p:spPr>
          <a:xfrm>
            <a:off x="45720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 title: Avg delivery time by distance (min)">
            <a:extLst>
              <a:ext uri="{FF2B5EF4-FFF2-40B4-BE49-F238E27FC236}">
                <a16:creationId xmlns:a16="http://schemas.microsoft.com/office/drawing/2014/main" id="{B2B22848-AE07-37F4-0126-59F12DB59B65}"/>
              </a:ext>
            </a:extLst>
          </p:cNvPr>
          <p:cNvSpPr txBox="1"/>
          <p:nvPr/>
        </p:nvSpPr>
        <p:spPr>
          <a:xfrm>
            <a:off x="68580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Avg delivery time by distance (min)</a:t>
            </a:r>
            <a:endParaRPr lang="en-US" sz="1400" dirty="0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1FC72E4F-CBE5-F4D5-23E4-6446F717BF2A}"/>
              </a:ext>
            </a:extLst>
          </p:cNvPr>
          <p:cNvGraphicFramePr/>
          <p:nvPr/>
        </p:nvGraphicFramePr>
        <p:xfrm>
          <a:off x="640080" y="2011680"/>
          <a:ext cx="5120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ating by distance card">
            <a:extLst>
              <a:ext uri="{FF2B5EF4-FFF2-40B4-BE49-F238E27FC236}">
                <a16:creationId xmlns:a16="http://schemas.microsoft.com/office/drawing/2014/main" id="{2461BC2F-4235-B93E-3FE6-A2F5D88F3193}"/>
              </a:ext>
            </a:extLst>
          </p:cNvPr>
          <p:cNvSpPr/>
          <p:nvPr/>
        </p:nvSpPr>
        <p:spPr>
          <a:xfrm>
            <a:off x="6217920" y="1554480"/>
            <a:ext cx="548640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Card title: Avg customer rating by distance">
            <a:extLst>
              <a:ext uri="{FF2B5EF4-FFF2-40B4-BE49-F238E27FC236}">
                <a16:creationId xmlns:a16="http://schemas.microsoft.com/office/drawing/2014/main" id="{42FA8469-02BC-158E-2BB7-756E8D239452}"/>
              </a:ext>
            </a:extLst>
          </p:cNvPr>
          <p:cNvSpPr txBox="1"/>
          <p:nvPr/>
        </p:nvSpPr>
        <p:spPr>
          <a:xfrm>
            <a:off x="64465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Avg customer rating by distance</a:t>
            </a:r>
            <a:endParaRPr lang="en-US" sz="1400" dirty="0"/>
          </a:p>
        </p:txBody>
      </p:sp>
      <p:graphicFrame>
        <p:nvGraphicFramePr>
          <p:cNvPr id="14" name="Chart 1">
            <a:extLst>
              <a:ext uri="{FF2B5EF4-FFF2-40B4-BE49-F238E27FC236}">
                <a16:creationId xmlns:a16="http://schemas.microsoft.com/office/drawing/2014/main" id="{E3882596-9C8E-DAC4-4261-A5D462FFDCB2}"/>
              </a:ext>
            </a:extLst>
          </p:cNvPr>
          <p:cNvGraphicFramePr/>
          <p:nvPr/>
        </p:nvGraphicFramePr>
        <p:xfrm>
          <a:off x="6400800" y="2011680"/>
          <a:ext cx="51206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lide Number Placeholder 0">
            <a:extLst>
              <a:ext uri="{FF2B5EF4-FFF2-40B4-BE49-F238E27FC236}">
                <a16:creationId xmlns:a16="http://schemas.microsoft.com/office/drawing/2014/main" id="{5F808CEA-9F8C-2F9B-DDDC-4F10FACC4A80}"/>
              </a:ext>
            </a:extLst>
          </p:cNvPr>
          <p:cNvSpPr txBox="1">
            <a:spLocks/>
          </p:cNvSpPr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1" kern="1200" cap="all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b="0" smtClean="0"/>
              <a:pPr/>
              <a:t>22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12EA49-E123-C1A5-F06D-F830A1845219}"/>
              </a:ext>
            </a:extLst>
          </p:cNvPr>
          <p:cNvSpPr/>
          <p:nvPr/>
        </p:nvSpPr>
        <p:spPr>
          <a:xfrm>
            <a:off x="0" y="6617970"/>
            <a:ext cx="12192000" cy="2400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07057"/>
      </p:ext>
    </p:extLst>
  </p:cSld>
  <p:clrMapOvr>
    <a:masterClrMapping/>
  </p:clrMapOvr>
  <p:transition spd="slow">
    <p:cover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71F55-106C-D33A-8F0A-C5ED92A6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3EAD2C1-CFB7-C9C9-93AD-BDB24D36B248}"/>
              </a:ext>
            </a:extLst>
          </p:cNvPr>
          <p:cNvSpPr txBox="1">
            <a:spLocks/>
          </p:cNvSpPr>
          <p:nvPr/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 dirty="0">
                <a:solidFill>
                  <a:srgbClr val="FF0000"/>
                </a:solidFill>
                <a:latin typeface="Abadi" panose="020B0604020104020204" pitchFamily="34" charset="0"/>
              </a:rPr>
              <a:t>Rain and storms hurt speed and ratings</a:t>
            </a:r>
            <a:endParaRPr lang="en-US" sz="34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178974C0-91B7-2A22-7576-DD440897E8DD}"/>
              </a:ext>
            </a:extLst>
          </p:cNvPr>
          <p:cNvSpPr txBox="1"/>
          <p:nvPr/>
        </p:nvSpPr>
        <p:spPr>
          <a:xfrm>
            <a:off x="594360" y="103327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Compared with clear weather, storms add 14 minutes to delivery and cut ratings by 0.8 points</a:t>
            </a:r>
          </a:p>
        </p:txBody>
      </p:sp>
      <p:sp>
        <p:nvSpPr>
          <p:cNvPr id="7" name="Weather delivery card">
            <a:extLst>
              <a:ext uri="{FF2B5EF4-FFF2-40B4-BE49-F238E27FC236}">
                <a16:creationId xmlns:a16="http://schemas.microsoft.com/office/drawing/2014/main" id="{0DD5F793-711B-50A3-E238-3849D9818AFA}"/>
              </a:ext>
            </a:extLst>
          </p:cNvPr>
          <p:cNvSpPr/>
          <p:nvPr/>
        </p:nvSpPr>
        <p:spPr>
          <a:xfrm>
            <a:off x="457200" y="1554480"/>
            <a:ext cx="54864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 title: Avg delivery time by weather (min)">
            <a:extLst>
              <a:ext uri="{FF2B5EF4-FFF2-40B4-BE49-F238E27FC236}">
                <a16:creationId xmlns:a16="http://schemas.microsoft.com/office/drawing/2014/main" id="{D30E4B72-17DC-63BE-11DC-C0D23F79B2A0}"/>
              </a:ext>
            </a:extLst>
          </p:cNvPr>
          <p:cNvSpPr txBox="1"/>
          <p:nvPr/>
        </p:nvSpPr>
        <p:spPr>
          <a:xfrm>
            <a:off x="68580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Avg delivery time by weather (min)</a:t>
            </a:r>
            <a:endParaRPr lang="en-US" sz="1400" dirty="0"/>
          </a:p>
        </p:txBody>
      </p: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2F7BA416-E2CD-21B3-E6E4-F574F1803B25}"/>
              </a:ext>
            </a:extLst>
          </p:cNvPr>
          <p:cNvGraphicFramePr/>
          <p:nvPr/>
        </p:nvGraphicFramePr>
        <p:xfrm>
          <a:off x="640080" y="196596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Weather rating card">
            <a:extLst>
              <a:ext uri="{FF2B5EF4-FFF2-40B4-BE49-F238E27FC236}">
                <a16:creationId xmlns:a16="http://schemas.microsoft.com/office/drawing/2014/main" id="{21B762BB-1AAD-7AB1-FE74-61B2A74F82DE}"/>
              </a:ext>
            </a:extLst>
          </p:cNvPr>
          <p:cNvSpPr/>
          <p:nvPr/>
        </p:nvSpPr>
        <p:spPr>
          <a:xfrm>
            <a:off x="6217920" y="1554480"/>
            <a:ext cx="54864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Card title: Avg customer rating by weather">
            <a:extLst>
              <a:ext uri="{FF2B5EF4-FFF2-40B4-BE49-F238E27FC236}">
                <a16:creationId xmlns:a16="http://schemas.microsoft.com/office/drawing/2014/main" id="{0BDE7081-4FCE-2411-2479-9090C9CCBFE4}"/>
              </a:ext>
            </a:extLst>
          </p:cNvPr>
          <p:cNvSpPr txBox="1"/>
          <p:nvPr/>
        </p:nvSpPr>
        <p:spPr>
          <a:xfrm>
            <a:off x="64465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Avg customer rating by weather</a:t>
            </a:r>
            <a:endParaRPr lang="en-US" sz="1400" dirty="0"/>
          </a:p>
        </p:txBody>
      </p:sp>
      <p:graphicFrame>
        <p:nvGraphicFramePr>
          <p:cNvPr id="14" name="Chart 1">
            <a:extLst>
              <a:ext uri="{FF2B5EF4-FFF2-40B4-BE49-F238E27FC236}">
                <a16:creationId xmlns:a16="http://schemas.microsoft.com/office/drawing/2014/main" id="{4D61605C-97C2-4BA2-A889-02B4C35258D7}"/>
              </a:ext>
            </a:extLst>
          </p:cNvPr>
          <p:cNvGraphicFramePr/>
          <p:nvPr/>
        </p:nvGraphicFramePr>
        <p:xfrm>
          <a:off x="6400800" y="196596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tat storm time">
            <a:extLst>
              <a:ext uri="{FF2B5EF4-FFF2-40B4-BE49-F238E27FC236}">
                <a16:creationId xmlns:a16="http://schemas.microsoft.com/office/drawing/2014/main" id="{814B6BCD-1295-D6BA-2CC2-9D022C157D5A}"/>
              </a:ext>
            </a:extLst>
          </p:cNvPr>
          <p:cNvSpPr/>
          <p:nvPr/>
        </p:nvSpPr>
        <p:spPr>
          <a:xfrm>
            <a:off x="457200" y="53492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tat storm time dot">
            <a:extLst>
              <a:ext uri="{FF2B5EF4-FFF2-40B4-BE49-F238E27FC236}">
                <a16:creationId xmlns:a16="http://schemas.microsoft.com/office/drawing/2014/main" id="{FE1E4105-32AE-2D90-42E2-A7D0C870BB35}"/>
              </a:ext>
            </a:extLst>
          </p:cNvPr>
          <p:cNvSpPr/>
          <p:nvPr/>
        </p:nvSpPr>
        <p:spPr>
          <a:xfrm>
            <a:off x="685800" y="557784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tat storm time value">
            <a:extLst>
              <a:ext uri="{FF2B5EF4-FFF2-40B4-BE49-F238E27FC236}">
                <a16:creationId xmlns:a16="http://schemas.microsoft.com/office/drawing/2014/main" id="{C8E2A59D-5B9B-FFEB-64D9-DAB4E2D1BC4C}"/>
              </a:ext>
            </a:extLst>
          </p:cNvPr>
          <p:cNvSpPr txBox="1"/>
          <p:nvPr/>
        </p:nvSpPr>
        <p:spPr>
          <a:xfrm>
            <a:off x="1005840" y="5458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+13.9 min</a:t>
            </a:r>
            <a:endParaRPr lang="en-US" sz="2800" dirty="0"/>
          </a:p>
        </p:txBody>
      </p:sp>
      <p:sp>
        <p:nvSpPr>
          <p:cNvPr id="18" name="Stat storm time label">
            <a:extLst>
              <a:ext uri="{FF2B5EF4-FFF2-40B4-BE49-F238E27FC236}">
                <a16:creationId xmlns:a16="http://schemas.microsoft.com/office/drawing/2014/main" id="{98A6E8CE-138F-69CB-7A66-4413112D11DB}"/>
              </a:ext>
            </a:extLst>
          </p:cNvPr>
          <p:cNvSpPr txBox="1"/>
          <p:nvPr/>
        </p:nvSpPr>
        <p:spPr>
          <a:xfrm>
            <a:off x="685800" y="5943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Storm vs clear delivery time</a:t>
            </a:r>
            <a:endParaRPr lang="en-US" sz="1400" dirty="0"/>
          </a:p>
        </p:txBody>
      </p:sp>
      <p:sp>
        <p:nvSpPr>
          <p:cNvPr id="19" name="Stat storm rating">
            <a:extLst>
              <a:ext uri="{FF2B5EF4-FFF2-40B4-BE49-F238E27FC236}">
                <a16:creationId xmlns:a16="http://schemas.microsoft.com/office/drawing/2014/main" id="{110B71CD-1308-E57D-B7DE-26C21B2ECA9C}"/>
              </a:ext>
            </a:extLst>
          </p:cNvPr>
          <p:cNvSpPr/>
          <p:nvPr/>
        </p:nvSpPr>
        <p:spPr>
          <a:xfrm>
            <a:off x="4315968" y="5349240"/>
            <a:ext cx="356616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tat storm rating dot">
            <a:extLst>
              <a:ext uri="{FF2B5EF4-FFF2-40B4-BE49-F238E27FC236}">
                <a16:creationId xmlns:a16="http://schemas.microsoft.com/office/drawing/2014/main" id="{DB2B004F-01D7-34B2-89FE-4B28129342DC}"/>
              </a:ext>
            </a:extLst>
          </p:cNvPr>
          <p:cNvSpPr/>
          <p:nvPr/>
        </p:nvSpPr>
        <p:spPr>
          <a:xfrm>
            <a:off x="4544568" y="557784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tat storm rating value">
            <a:extLst>
              <a:ext uri="{FF2B5EF4-FFF2-40B4-BE49-F238E27FC236}">
                <a16:creationId xmlns:a16="http://schemas.microsoft.com/office/drawing/2014/main" id="{84924405-B13E-8690-5D01-48CF66787F53}"/>
              </a:ext>
            </a:extLst>
          </p:cNvPr>
          <p:cNvSpPr txBox="1"/>
          <p:nvPr/>
        </p:nvSpPr>
        <p:spPr>
          <a:xfrm>
            <a:off x="4864608" y="54589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-0.81</a:t>
            </a:r>
            <a:endParaRPr lang="en-US" sz="2800" dirty="0"/>
          </a:p>
        </p:txBody>
      </p:sp>
      <p:sp>
        <p:nvSpPr>
          <p:cNvPr id="22" name="Stat storm rating label">
            <a:extLst>
              <a:ext uri="{FF2B5EF4-FFF2-40B4-BE49-F238E27FC236}">
                <a16:creationId xmlns:a16="http://schemas.microsoft.com/office/drawing/2014/main" id="{49628480-C942-356E-B2AD-B25EA3E1B0CD}"/>
              </a:ext>
            </a:extLst>
          </p:cNvPr>
          <p:cNvSpPr txBox="1"/>
          <p:nvPr/>
        </p:nvSpPr>
        <p:spPr>
          <a:xfrm>
            <a:off x="4544568" y="5943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Storm vs clear rating</a:t>
            </a:r>
            <a:endParaRPr lang="en-US" sz="1400" dirty="0"/>
          </a:p>
        </p:txBody>
      </p:sp>
      <p:sp>
        <p:nvSpPr>
          <p:cNvPr id="23" name="Stat rain cancel">
            <a:extLst>
              <a:ext uri="{FF2B5EF4-FFF2-40B4-BE49-F238E27FC236}">
                <a16:creationId xmlns:a16="http://schemas.microsoft.com/office/drawing/2014/main" id="{167E4BE1-0BAE-B1DE-13F3-B5FFD9AA135A}"/>
              </a:ext>
            </a:extLst>
          </p:cNvPr>
          <p:cNvSpPr/>
          <p:nvPr/>
        </p:nvSpPr>
        <p:spPr>
          <a:xfrm>
            <a:off x="8174736" y="5349240"/>
            <a:ext cx="3529584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tat rain cancel dot">
            <a:extLst>
              <a:ext uri="{FF2B5EF4-FFF2-40B4-BE49-F238E27FC236}">
                <a16:creationId xmlns:a16="http://schemas.microsoft.com/office/drawing/2014/main" id="{84873893-F605-A4EF-9922-28B19E5D78EA}"/>
              </a:ext>
            </a:extLst>
          </p:cNvPr>
          <p:cNvSpPr/>
          <p:nvPr/>
        </p:nvSpPr>
        <p:spPr>
          <a:xfrm>
            <a:off x="8403336" y="5577840"/>
            <a:ext cx="182880" cy="18288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tat rain cancel value">
            <a:extLst>
              <a:ext uri="{FF2B5EF4-FFF2-40B4-BE49-F238E27FC236}">
                <a16:creationId xmlns:a16="http://schemas.microsoft.com/office/drawing/2014/main" id="{7E839E9C-0E35-2B30-D426-B3897C6C23B3}"/>
              </a:ext>
            </a:extLst>
          </p:cNvPr>
          <p:cNvSpPr txBox="1"/>
          <p:nvPr/>
        </p:nvSpPr>
        <p:spPr>
          <a:xfrm>
            <a:off x="8723376" y="5458968"/>
            <a:ext cx="2798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3.0%</a:t>
            </a:r>
            <a:endParaRPr lang="en-US" sz="2800" dirty="0"/>
          </a:p>
        </p:txBody>
      </p:sp>
      <p:sp>
        <p:nvSpPr>
          <p:cNvPr id="26" name="Stat rain cancel label">
            <a:extLst>
              <a:ext uri="{FF2B5EF4-FFF2-40B4-BE49-F238E27FC236}">
                <a16:creationId xmlns:a16="http://schemas.microsoft.com/office/drawing/2014/main" id="{F4DC1D7E-FC15-1A35-62CD-7A71A184AF86}"/>
              </a:ext>
            </a:extLst>
          </p:cNvPr>
          <p:cNvSpPr txBox="1"/>
          <p:nvPr/>
        </p:nvSpPr>
        <p:spPr>
          <a:xfrm>
            <a:off x="8403336" y="59436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Rain cancellation rate vs 1.3% clear</a:t>
            </a:r>
            <a:endParaRPr lang="en-US" sz="1400" dirty="0"/>
          </a:p>
        </p:txBody>
      </p:sp>
      <p:sp>
        <p:nvSpPr>
          <p:cNvPr id="27" name="Slide Number Placeholder 0">
            <a:extLst>
              <a:ext uri="{FF2B5EF4-FFF2-40B4-BE49-F238E27FC236}">
                <a16:creationId xmlns:a16="http://schemas.microsoft.com/office/drawing/2014/main" id="{D64D7BC8-F97C-22F2-D983-E06B65701F45}"/>
              </a:ext>
            </a:extLst>
          </p:cNvPr>
          <p:cNvSpPr txBox="1">
            <a:spLocks/>
          </p:cNvSpPr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b="1" kern="1200" cap="all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7021451-1387-4CA6-816F-3879F97B5CBC}" type="slidenum">
              <a:rPr lang="en-US" b="0" smtClean="0"/>
              <a:pPr/>
              <a:t>23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089709-E744-4EB4-9821-84C880E74172}"/>
              </a:ext>
            </a:extLst>
          </p:cNvPr>
          <p:cNvSpPr/>
          <p:nvPr/>
        </p:nvSpPr>
        <p:spPr>
          <a:xfrm>
            <a:off x="-91440" y="6572250"/>
            <a:ext cx="12283440" cy="3657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946498"/>
      </p:ext>
    </p:extLst>
  </p:cSld>
  <p:clrMapOvr>
    <a:masterClrMapping/>
  </p:clrMapOvr>
  <p:transition spd="slow">
    <p:cover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861E-96FE-647D-89EB-616C23889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EDD61E-E65F-4B85-75FC-95CAABB7884E}"/>
              </a:ext>
            </a:extLst>
          </p:cNvPr>
          <p:cNvSpPr txBox="1"/>
          <p:nvPr/>
        </p:nvSpPr>
        <p:spPr>
          <a:xfrm>
            <a:off x="1600200" y="365760"/>
            <a:ext cx="264341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rPr dirty="0">
                <a:solidFill>
                  <a:srgbClr val="FF0000"/>
                </a:solidFill>
              </a:rPr>
              <a:t>Business Insights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6DFFC-0AC6-9D1B-780E-F77BEE66424D}"/>
              </a:ext>
            </a:extLst>
          </p:cNvPr>
          <p:cNvSpPr txBox="1"/>
          <p:nvPr/>
        </p:nvSpPr>
        <p:spPr>
          <a:xfrm>
            <a:off x="822960" y="1143000"/>
            <a:ext cx="10238330" cy="4885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D2D2D"/>
                </a:solidFill>
              </a:defRPr>
            </a:pPr>
            <a:r>
              <a:rPr dirty="0"/>
              <a:t>• </a:t>
            </a:r>
            <a:r>
              <a:rPr lang="en-US" sz="2400" dirty="0"/>
              <a:t>Dataset size: 2000rows × 27 columns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lang="en-US" sz="2400" dirty="0"/>
              <a:t>• Sales: subtotal, </a:t>
            </a:r>
            <a:r>
              <a:rPr lang="en-US" sz="2400" dirty="0" err="1"/>
              <a:t>discount_percent</a:t>
            </a:r>
            <a:r>
              <a:rPr lang="en-US" sz="2400" dirty="0"/>
              <a:t>, </a:t>
            </a:r>
            <a:r>
              <a:rPr lang="en-US" sz="2400" dirty="0" err="1"/>
              <a:t>tax_amount</a:t>
            </a:r>
            <a:r>
              <a:rPr lang="en-US" sz="2400" dirty="0"/>
              <a:t>, </a:t>
            </a:r>
            <a:r>
              <a:rPr lang="en-US" sz="2400" dirty="0" err="1"/>
              <a:t>service_fee</a:t>
            </a:r>
            <a:r>
              <a:rPr lang="en-US" sz="2400" dirty="0"/>
              <a:t>, </a:t>
            </a:r>
            <a:r>
              <a:rPr lang="en-US" sz="2400" dirty="0" err="1"/>
              <a:t>order_total</a:t>
            </a: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lang="en-US" sz="2400" dirty="0"/>
              <a:t>• Delivery: </a:t>
            </a:r>
            <a:r>
              <a:rPr lang="en-US" sz="2400" dirty="0" err="1"/>
              <a:t>distance_km</a:t>
            </a:r>
            <a:r>
              <a:rPr lang="en-US" sz="2400" dirty="0"/>
              <a:t>, </a:t>
            </a:r>
            <a:r>
              <a:rPr lang="en-US" sz="2400" dirty="0" err="1"/>
              <a:t>estimated_delivery_time_minutes</a:t>
            </a:r>
            <a:r>
              <a:rPr lang="en-US" sz="2400" dirty="0"/>
              <a:t>, </a:t>
            </a:r>
            <a:r>
              <a:rPr lang="en-US" sz="2400" dirty="0" err="1"/>
              <a:t>actual_delivery_time_minutes</a:t>
            </a:r>
            <a:r>
              <a:rPr lang="en-US" sz="2400" dirty="0"/>
              <a:t>, </a:t>
            </a:r>
            <a:r>
              <a:rPr lang="en-US" sz="2400" dirty="0" err="1"/>
              <a:t>late_delivery</a:t>
            </a: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lang="en-US" sz="2400" dirty="0"/>
              <a:t>• Customer: </a:t>
            </a:r>
            <a:r>
              <a:rPr lang="en-US" sz="2400" dirty="0" err="1"/>
              <a:t>customer_age</a:t>
            </a:r>
            <a:r>
              <a:rPr lang="en-US" sz="2400" dirty="0"/>
              <a:t>, </a:t>
            </a:r>
            <a:r>
              <a:rPr lang="en-US" sz="2400" dirty="0" err="1"/>
              <a:t>customer_type</a:t>
            </a:r>
            <a:r>
              <a:rPr lang="en-US" sz="2400" dirty="0"/>
              <a:t>, </a:t>
            </a:r>
            <a:r>
              <a:rPr lang="en-US" sz="2400" dirty="0" err="1"/>
              <a:t>customer_rating</a:t>
            </a: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endParaRPr lang="en-US" sz="2400" dirty="0"/>
          </a:p>
          <a:p>
            <a:pPr>
              <a:defRPr sz="1500">
                <a:solidFill>
                  <a:srgbClr val="2D2D2D"/>
                </a:solidFill>
              </a:defRPr>
            </a:pPr>
            <a:r>
              <a:rPr lang="en-US" sz="2400" dirty="0"/>
              <a:t>• Operations: restaurant type/category, weather, traffic, driver experience/rating, order status</a:t>
            </a:r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endParaRPr sz="2400" dirty="0"/>
          </a:p>
          <a:p>
            <a:pPr>
              <a:spcAft>
                <a:spcPts val="900"/>
              </a:spcAft>
              <a:defRPr sz="1600">
                <a:solidFill>
                  <a:srgbClr val="2D2D2D"/>
                </a:solidFill>
              </a:defRPr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5A948E-38E9-CC79-E447-8F69892F253E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E72BA6-E644-72FC-0E7D-31C3AB5C9594}"/>
              </a:ext>
            </a:extLst>
          </p:cNvPr>
          <p:cNvSpPr/>
          <p:nvPr/>
        </p:nvSpPr>
        <p:spPr>
          <a:xfrm>
            <a:off x="0" y="6652260"/>
            <a:ext cx="12192000" cy="29109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16645"/>
      </p:ext>
    </p:extLst>
  </p:cSld>
  <p:clrMapOvr>
    <a:masterClrMapping/>
  </p:clrMapOvr>
  <p:transition spd="slow">
    <p:cover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C4796-C4D9-BE52-D449-4638B275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9FABBB-D5AB-7B12-AE2B-5C9C6F5F0442}"/>
              </a:ext>
            </a:extLst>
          </p:cNvPr>
          <p:cNvSpPr txBox="1"/>
          <p:nvPr/>
        </p:nvSpPr>
        <p:spPr>
          <a:xfrm>
            <a:off x="502920" y="228600"/>
            <a:ext cx="286463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rPr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F357CB-C072-2E18-AA9E-F59EA93AF3EF}"/>
              </a:ext>
            </a:extLst>
          </p:cNvPr>
          <p:cNvSpPr txBox="1"/>
          <p:nvPr/>
        </p:nvSpPr>
        <p:spPr>
          <a:xfrm>
            <a:off x="822960" y="11887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Monitor high-delivery-time months and investigate operational causes.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Use distance, preparation time and traffic level to identify delivery bottlenecks.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Track low customer ratings alongside delivery delays and fees.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Review high-value and unusual orders for operational planning.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Use Power BI slicers for city, order month, customer type, payment method and order status.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Monitor late-delivery rates to improve customer experience.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ED6F1B-98E7-9BB9-9C42-316B4CFBE706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98C73-4DC3-F77E-EAB2-08EBFBB289C3}"/>
              </a:ext>
            </a:extLst>
          </p:cNvPr>
          <p:cNvSpPr/>
          <p:nvPr/>
        </p:nvSpPr>
        <p:spPr>
          <a:xfrm>
            <a:off x="0" y="6583680"/>
            <a:ext cx="12192000" cy="3543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812037"/>
      </p:ext>
    </p:extLst>
  </p:cSld>
  <p:clrMapOvr>
    <a:masterClrMapping/>
  </p:clrMapOvr>
  <p:transition spd="slow">
    <p:cover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453DB-51D9-937B-73D8-578A272D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A4EB5D-93C7-3F11-8587-E41BEEA756F6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AE0B50-7DC2-D8A0-0F9E-294D12976692}"/>
              </a:ext>
            </a:extLst>
          </p:cNvPr>
          <p:cNvSpPr txBox="1"/>
          <p:nvPr/>
        </p:nvSpPr>
        <p:spPr>
          <a:xfrm>
            <a:off x="3078700" y="899030"/>
            <a:ext cx="5029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Food Delivery Dataset Analysis — Documentation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BAC69-8FA7-5148-0045-3159609BDD5C}"/>
              </a:ext>
            </a:extLst>
          </p:cNvPr>
          <p:cNvSpPr txBox="1"/>
          <p:nvPr/>
        </p:nvSpPr>
        <p:spPr>
          <a:xfrm>
            <a:off x="289249" y="1660849"/>
            <a:ext cx="80336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Introduction</a:t>
            </a:r>
          </a:p>
          <a:p>
            <a:endParaRPr lang="en-US" dirty="0"/>
          </a:p>
          <a:p>
            <a:r>
              <a:rPr lang="en-US" dirty="0"/>
              <a:t>The Food Delivery Orders Dataset Analysis project focuses on analyzing food </a:t>
            </a:r>
          </a:p>
          <a:p>
            <a:endParaRPr lang="en-US" dirty="0"/>
          </a:p>
          <a:p>
            <a:r>
              <a:rPr lang="en-US" dirty="0"/>
              <a:t>delivery order data using Python. The purpose of this project is to understand </a:t>
            </a:r>
          </a:p>
          <a:p>
            <a:endParaRPr lang="en-US" dirty="0"/>
          </a:p>
          <a:p>
            <a:r>
              <a:rPr lang="en-US" dirty="0"/>
              <a:t>ordering patterns, delivery performance, customer ratings, delivery charges, tips, </a:t>
            </a:r>
          </a:p>
          <a:p>
            <a:endParaRPr lang="en-US" dirty="0"/>
          </a:p>
          <a:p>
            <a:r>
              <a:rPr lang="en-US" dirty="0"/>
              <a:t>distance travelled, and restaurant preparation </a:t>
            </a:r>
            <a:r>
              <a:rPr lang="en-US" dirty="0" err="1"/>
              <a:t>time.The</a:t>
            </a:r>
            <a:r>
              <a:rPr lang="en-US" dirty="0"/>
              <a:t> project follows a </a:t>
            </a:r>
          </a:p>
          <a:p>
            <a:endParaRPr lang="en-US" dirty="0"/>
          </a:p>
          <a:p>
            <a:r>
              <a:rPr lang="en-US" dirty="0"/>
              <a:t>complete data analysis process, starting from data loading and cleaning and </a:t>
            </a:r>
          </a:p>
          <a:p>
            <a:endParaRPr lang="en-US" dirty="0"/>
          </a:p>
          <a:p>
            <a:r>
              <a:rPr lang="en-US" dirty="0"/>
              <a:t>continuing through exploratory data analysis, statistical analysis, data </a:t>
            </a:r>
          </a:p>
          <a:p>
            <a:endParaRPr lang="en-US" dirty="0"/>
          </a:p>
          <a:p>
            <a:r>
              <a:rPr lang="en-US" dirty="0"/>
              <a:t>visualization, and interpretation of </a:t>
            </a:r>
            <a:r>
              <a:rPr lang="en-US" dirty="0" err="1"/>
              <a:t>results.Python</a:t>
            </a:r>
            <a:r>
              <a:rPr lang="en-US" dirty="0"/>
              <a:t> libraries such as Pandas, </a:t>
            </a:r>
          </a:p>
          <a:p>
            <a:endParaRPr lang="en-US" dirty="0"/>
          </a:p>
          <a:p>
            <a:r>
              <a:rPr lang="en-US" dirty="0"/>
              <a:t>NumPy, Matplotlib, and Seaborn are used to analyze and visualize the dataset.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6C7A1B-4709-A859-A4EA-93C51AE7A756}"/>
              </a:ext>
            </a:extLst>
          </p:cNvPr>
          <p:cNvSpPr/>
          <p:nvPr/>
        </p:nvSpPr>
        <p:spPr>
          <a:xfrm>
            <a:off x="0" y="6663690"/>
            <a:ext cx="12192000" cy="1943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588754"/>
      </p:ext>
    </p:extLst>
  </p:cSld>
  <p:clrMapOvr>
    <a:masterClrMapping/>
  </p:clrMapOvr>
  <p:transition spd="slow">
    <p:cover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4BF4-70A7-C584-7C43-09320FD7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E44A4A-52AA-7DD7-E659-9A4EFDEF0837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259EB-002E-0B57-99AC-F544DBBD2F92}"/>
              </a:ext>
            </a:extLst>
          </p:cNvPr>
          <p:cNvSpPr txBox="1"/>
          <p:nvPr/>
        </p:nvSpPr>
        <p:spPr>
          <a:xfrm>
            <a:off x="606490" y="1147665"/>
            <a:ext cx="755779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1600" dirty="0"/>
              <a:t>To identify the number of rows and </a:t>
            </a:r>
            <a:r>
              <a:rPr lang="en-IN" sz="1600" dirty="0" err="1"/>
              <a:t>columns.To</a:t>
            </a:r>
            <a:r>
              <a:rPr lang="en-IN" sz="1600" dirty="0"/>
              <a:t> examine column names and data types.</a:t>
            </a:r>
          </a:p>
          <a:p>
            <a:endParaRPr lang="en-IN" sz="1600" dirty="0"/>
          </a:p>
          <a:p>
            <a:r>
              <a:rPr lang="en-IN" sz="1600" dirty="0"/>
              <a:t>To identify and handle missing </a:t>
            </a:r>
            <a:r>
              <a:rPr lang="en-IN" sz="1600" dirty="0" err="1"/>
              <a:t>values.To</a:t>
            </a:r>
            <a:r>
              <a:rPr lang="en-IN" sz="1600" dirty="0"/>
              <a:t> identify and remove duplicate records.</a:t>
            </a:r>
          </a:p>
          <a:p>
            <a:endParaRPr lang="en-IN" sz="1600" dirty="0"/>
          </a:p>
          <a:p>
            <a:r>
              <a:rPr lang="en-IN" sz="1600" dirty="0"/>
              <a:t>To convert date-related columns into appropriate </a:t>
            </a:r>
            <a:r>
              <a:rPr lang="en-IN" sz="1600" dirty="0" err="1"/>
              <a:t>formats.To</a:t>
            </a:r>
            <a:r>
              <a:rPr lang="en-IN" sz="1600" dirty="0"/>
              <a:t> create useful derived columns.</a:t>
            </a:r>
          </a:p>
          <a:p>
            <a:endParaRPr lang="en-IN" sz="1600" dirty="0"/>
          </a:p>
          <a:p>
            <a:r>
              <a:rPr lang="en-IN" sz="1600" dirty="0"/>
              <a:t>To calculate order totals and delivery-related </a:t>
            </a:r>
            <a:r>
              <a:rPr lang="en-IN" sz="1600" dirty="0" err="1"/>
              <a:t>measures.To</a:t>
            </a:r>
            <a:r>
              <a:rPr lang="en-IN" sz="1600" dirty="0"/>
              <a:t> </a:t>
            </a:r>
            <a:r>
              <a:rPr lang="en-IN" sz="1600" dirty="0" err="1"/>
              <a:t>analyze</a:t>
            </a:r>
            <a:r>
              <a:rPr lang="en-IN" sz="1600" dirty="0"/>
              <a:t> food delivery distances.</a:t>
            </a:r>
          </a:p>
          <a:p>
            <a:endParaRPr lang="en-IN" sz="1600" dirty="0"/>
          </a:p>
          <a:p>
            <a:r>
              <a:rPr lang="en-IN" sz="1600" dirty="0"/>
              <a:t>To </a:t>
            </a:r>
            <a:r>
              <a:rPr lang="en-IN" sz="1600" dirty="0" err="1"/>
              <a:t>analyze</a:t>
            </a:r>
            <a:r>
              <a:rPr lang="en-IN" sz="1600" dirty="0"/>
              <a:t> delivery time and restaurant preparation time.</a:t>
            </a:r>
          </a:p>
          <a:p>
            <a:endParaRPr lang="en-IN" sz="1600" dirty="0"/>
          </a:p>
          <a:p>
            <a:r>
              <a:rPr lang="en-IN" sz="1600" dirty="0"/>
              <a:t>To study customer ratings.</a:t>
            </a:r>
          </a:p>
          <a:p>
            <a:endParaRPr lang="en-IN" sz="1600" dirty="0"/>
          </a:p>
          <a:p>
            <a:r>
              <a:rPr lang="en-IN" sz="1600" dirty="0"/>
              <a:t>To examine delivery fees and tip amounts.</a:t>
            </a:r>
          </a:p>
          <a:p>
            <a:endParaRPr lang="en-IN" sz="1600" dirty="0"/>
          </a:p>
          <a:p>
            <a:r>
              <a:rPr lang="en-IN" sz="1600" dirty="0"/>
              <a:t>To calculate summary statistics.</a:t>
            </a:r>
          </a:p>
          <a:p>
            <a:endParaRPr lang="en-IN" sz="1600" dirty="0"/>
          </a:p>
          <a:p>
            <a:r>
              <a:rPr lang="en-IN" sz="1600" dirty="0"/>
              <a:t>To create meaningful </a:t>
            </a:r>
            <a:r>
              <a:rPr lang="en-IN" sz="1600" dirty="0" err="1"/>
              <a:t>visualizations.To</a:t>
            </a:r>
            <a:r>
              <a:rPr lang="en-IN" sz="1600" dirty="0"/>
              <a:t> identify important trends and patterns in food delivery orders.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026C4-9CF1-91B1-CB19-9124A10234B9}"/>
              </a:ext>
            </a:extLst>
          </p:cNvPr>
          <p:cNvSpPr txBox="1"/>
          <p:nvPr/>
        </p:nvSpPr>
        <p:spPr>
          <a:xfrm>
            <a:off x="1600278" y="962999"/>
            <a:ext cx="475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</a:t>
            </a:r>
            <a:r>
              <a:rPr lang="en-US" b="1" dirty="0">
                <a:solidFill>
                  <a:srgbClr val="FF0000"/>
                </a:solidFill>
              </a:rPr>
              <a:t>Objectives of the Project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46AF0-0599-E9C7-1283-922FFD432843}"/>
              </a:ext>
            </a:extLst>
          </p:cNvPr>
          <p:cNvSpPr/>
          <p:nvPr/>
        </p:nvSpPr>
        <p:spPr>
          <a:xfrm>
            <a:off x="0" y="6663690"/>
            <a:ext cx="12192000" cy="1943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659516"/>
      </p:ext>
    </p:extLst>
  </p:cSld>
  <p:clrMapOvr>
    <a:masterClrMapping/>
  </p:clrMapOvr>
  <p:transition spd="slow">
    <p:cover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C38A-3C24-E314-2050-35F3A3A3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F27768-9236-49E3-D27B-EE3521459293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D9D283-20A1-BCC0-07E5-47CD29B63F83}"/>
              </a:ext>
            </a:extLst>
          </p:cNvPr>
          <p:cNvSpPr txBox="1"/>
          <p:nvPr/>
        </p:nvSpPr>
        <p:spPr>
          <a:xfrm>
            <a:off x="606490" y="1147665"/>
            <a:ext cx="755779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Tool / Library Purpose</a:t>
            </a:r>
          </a:p>
          <a:p>
            <a:endParaRPr lang="en-IN" dirty="0"/>
          </a:p>
          <a:p>
            <a:r>
              <a:rPr lang="en-IN" dirty="0"/>
              <a:t>Python	Programming and data analysis</a:t>
            </a:r>
          </a:p>
          <a:p>
            <a:endParaRPr lang="en-IN" dirty="0"/>
          </a:p>
          <a:p>
            <a:r>
              <a:rPr lang="en-IN" dirty="0"/>
              <a:t>Pandas	Data cleaning and manipulation</a:t>
            </a:r>
          </a:p>
          <a:p>
            <a:endParaRPr lang="en-IN" dirty="0"/>
          </a:p>
          <a:p>
            <a:r>
              <a:rPr lang="en-IN" dirty="0"/>
              <a:t>NumPy	Numerical calculations</a:t>
            </a:r>
          </a:p>
          <a:p>
            <a:endParaRPr lang="en-IN" dirty="0"/>
          </a:p>
          <a:p>
            <a:r>
              <a:rPr lang="en-IN" dirty="0"/>
              <a:t>Matplotlib Data visualization</a:t>
            </a:r>
          </a:p>
          <a:p>
            <a:endParaRPr lang="en-IN" dirty="0"/>
          </a:p>
          <a:p>
            <a:r>
              <a:rPr lang="en-IN" dirty="0"/>
              <a:t>Seaborn	Statistical visualization</a:t>
            </a:r>
          </a:p>
          <a:p>
            <a:endParaRPr lang="en-IN" dirty="0"/>
          </a:p>
          <a:p>
            <a:r>
              <a:rPr lang="en-IN" dirty="0"/>
              <a:t>Jupyter Notebook / Google Colab Development environment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F3130-8474-7A8E-1C91-4B69F1F7C764}"/>
              </a:ext>
            </a:extLst>
          </p:cNvPr>
          <p:cNvSpPr txBox="1"/>
          <p:nvPr/>
        </p:nvSpPr>
        <p:spPr>
          <a:xfrm>
            <a:off x="484571" y="389166"/>
            <a:ext cx="4758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</a:t>
            </a:r>
            <a:r>
              <a:rPr lang="en-US" b="1" dirty="0">
                <a:solidFill>
                  <a:srgbClr val="FF0000"/>
                </a:solidFill>
              </a:rPr>
              <a:t>Tools and Technologies Used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8D0E58-C94F-6176-F3CB-70BE2A49BE62}"/>
              </a:ext>
            </a:extLst>
          </p:cNvPr>
          <p:cNvSpPr/>
          <p:nvPr/>
        </p:nvSpPr>
        <p:spPr>
          <a:xfrm>
            <a:off x="0" y="6615289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3798"/>
      </p:ext>
    </p:extLst>
  </p:cSld>
  <p:clrMapOvr>
    <a:masterClrMapping/>
  </p:clrMapOvr>
  <p:transition spd="slow">
    <p:cover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D378B-35F3-EC25-F528-AC94ECBC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937C14-9EA8-6B4E-9363-D2991C6E49DA}"/>
              </a:ext>
            </a:extLst>
          </p:cNvPr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45B48-B9CD-17B8-6811-87ED29C5CF03}"/>
              </a:ext>
            </a:extLst>
          </p:cNvPr>
          <p:cNvSpPr txBox="1"/>
          <p:nvPr/>
        </p:nvSpPr>
        <p:spPr>
          <a:xfrm>
            <a:off x="1066454" y="405800"/>
            <a:ext cx="8870302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4. </a:t>
            </a:r>
            <a:r>
              <a:rPr lang="en-US" sz="1400" dirty="0">
                <a:solidFill>
                  <a:srgbClr val="FF0000"/>
                </a:solidFill>
              </a:rPr>
              <a:t>Dataset Description</a:t>
            </a:r>
          </a:p>
          <a:p>
            <a:endParaRPr lang="en-US" sz="1400" dirty="0"/>
          </a:p>
          <a:p>
            <a:r>
              <a:rPr lang="en-US" sz="1400" dirty="0"/>
              <a:t>The Food Delivery Orders Dataset contains information related to food orders and their delivery performance.</a:t>
            </a:r>
          </a:p>
          <a:p>
            <a:r>
              <a:rPr lang="en-US" sz="1400" dirty="0"/>
              <a:t>Important fields used in the project include:</a:t>
            </a:r>
          </a:p>
          <a:p>
            <a:endParaRPr lang="en-US" sz="1400" b="1" dirty="0"/>
          </a:p>
          <a:p>
            <a:r>
              <a:rPr lang="en-US" sz="1400" b="1" dirty="0" err="1"/>
              <a:t>delivery_fee</a:t>
            </a:r>
            <a:r>
              <a:rPr lang="en-US" sz="1400" b="1" dirty="0"/>
              <a:t> </a:t>
            </a:r>
            <a:r>
              <a:rPr lang="en-US" sz="1400" dirty="0"/>
              <a:t>– Fee charged for delivery.</a:t>
            </a:r>
          </a:p>
          <a:p>
            <a:endParaRPr lang="en-US" sz="1400" dirty="0"/>
          </a:p>
          <a:p>
            <a:r>
              <a:rPr lang="en-US" sz="1400" dirty="0" err="1"/>
              <a:t>order_total</a:t>
            </a:r>
            <a:r>
              <a:rPr lang="en-US" sz="1400" dirty="0"/>
              <a:t> – Total value of the order.</a:t>
            </a:r>
          </a:p>
          <a:p>
            <a:endParaRPr lang="en-US" sz="1400" dirty="0"/>
          </a:p>
          <a:p>
            <a:r>
              <a:rPr lang="en-US" sz="1400" dirty="0" err="1"/>
              <a:t>tip_amount</a:t>
            </a:r>
            <a:r>
              <a:rPr lang="en-US" sz="1400" dirty="0"/>
              <a:t> – Tip given by the customer.</a:t>
            </a:r>
          </a:p>
          <a:p>
            <a:endParaRPr lang="en-US" sz="1400" dirty="0"/>
          </a:p>
          <a:p>
            <a:r>
              <a:rPr lang="en-US" sz="1400" dirty="0" err="1"/>
              <a:t>distance_km</a:t>
            </a:r>
            <a:r>
              <a:rPr lang="en-US" sz="1400" dirty="0"/>
              <a:t> – Distance travelled for delivery.</a:t>
            </a:r>
          </a:p>
          <a:p>
            <a:endParaRPr lang="en-US" sz="1400" dirty="0"/>
          </a:p>
          <a:p>
            <a:r>
              <a:rPr lang="en-US" sz="1400" dirty="0" err="1"/>
              <a:t>restaurant_preparation_time_minutes</a:t>
            </a:r>
            <a:r>
              <a:rPr lang="en-US" sz="1400" dirty="0"/>
              <a:t> – Time taken by the restaurant to prepare the order.</a:t>
            </a:r>
          </a:p>
          <a:p>
            <a:endParaRPr lang="en-US" sz="1400" dirty="0"/>
          </a:p>
          <a:p>
            <a:r>
              <a:rPr lang="en-US" sz="1400" dirty="0" err="1"/>
              <a:t>actual_delivery_time_minutes</a:t>
            </a:r>
            <a:r>
              <a:rPr lang="en-US" sz="1400" dirty="0"/>
              <a:t> – Actual time taken to deliver the order.</a:t>
            </a:r>
          </a:p>
          <a:p>
            <a:endParaRPr lang="en-US" sz="1400" dirty="0"/>
          </a:p>
          <a:p>
            <a:r>
              <a:rPr lang="en-US" sz="1400" dirty="0" err="1"/>
              <a:t>customer_rating</a:t>
            </a:r>
            <a:r>
              <a:rPr lang="en-US" sz="1400" dirty="0"/>
              <a:t> – Rating given by the customer.</a:t>
            </a:r>
          </a:p>
          <a:p>
            <a:endParaRPr lang="en-US" sz="1400" dirty="0"/>
          </a:p>
          <a:p>
            <a:r>
              <a:rPr lang="en-US" sz="1400" dirty="0" err="1"/>
              <a:t>Calculated_Total</a:t>
            </a:r>
            <a:r>
              <a:rPr lang="en-US" sz="1400" dirty="0"/>
              <a:t> – Calculated order amount.</a:t>
            </a:r>
          </a:p>
          <a:p>
            <a:endParaRPr lang="en-US" sz="1400" dirty="0"/>
          </a:p>
          <a:p>
            <a:r>
              <a:rPr lang="en-US" sz="1400" dirty="0" err="1"/>
              <a:t>Order_Day</a:t>
            </a:r>
            <a:r>
              <a:rPr lang="en-US" sz="1400" dirty="0"/>
              <a:t> – Day extracted from the order date.</a:t>
            </a:r>
          </a:p>
          <a:p>
            <a:endParaRPr lang="en-US" sz="1400" dirty="0"/>
          </a:p>
          <a:p>
            <a:r>
              <a:rPr lang="en-US" sz="1400" dirty="0" err="1"/>
              <a:t>Order_Month</a:t>
            </a:r>
            <a:r>
              <a:rPr lang="en-US" sz="1400" dirty="0"/>
              <a:t> – Month extracted from the order date.</a:t>
            </a:r>
          </a:p>
          <a:p>
            <a:endParaRPr lang="en-US" sz="1400" dirty="0"/>
          </a:p>
          <a:p>
            <a:r>
              <a:rPr lang="en-US" sz="1400" dirty="0" err="1"/>
              <a:t>Order_Year</a:t>
            </a:r>
            <a:r>
              <a:rPr lang="en-US" sz="1400" dirty="0"/>
              <a:t> – Year extracted from the order date.</a:t>
            </a:r>
          </a:p>
          <a:p>
            <a:r>
              <a:rPr lang="en-US" sz="1400" dirty="0"/>
              <a:t>These fields provide information about order value, delivery cost, delivery distance, preparation time, delivery performance, and customer satisfaction.</a:t>
            </a:r>
            <a:endParaRPr lang="en-IN" sz="1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53A44-E8AF-7241-9287-A54FD2558697}"/>
              </a:ext>
            </a:extLst>
          </p:cNvPr>
          <p:cNvSpPr/>
          <p:nvPr/>
        </p:nvSpPr>
        <p:spPr>
          <a:xfrm>
            <a:off x="0" y="6637867"/>
            <a:ext cx="12192000" cy="2853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799214"/>
      </p:ext>
    </p:extLst>
  </p:cSld>
  <p:clrMapOvr>
    <a:masterClrMapping/>
  </p:clrMapOvr>
  <p:transition spd="slow">
    <p:cover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9B64A-A4F5-2B6C-337B-ADE7EB348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D2F33F-B7EF-F65E-27EB-C4946A96B8E6}"/>
              </a:ext>
            </a:extLst>
          </p:cNvPr>
          <p:cNvSpPr txBox="1"/>
          <p:nvPr/>
        </p:nvSpPr>
        <p:spPr>
          <a:xfrm>
            <a:off x="1306286" y="1856792"/>
            <a:ext cx="9060024" cy="4199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5. </a:t>
            </a:r>
            <a:r>
              <a:rPr lang="en-IN" b="1" dirty="0">
                <a:solidFill>
                  <a:srgbClr val="FF0000"/>
                </a:solidFill>
              </a:rPr>
              <a:t>Data Loading</a:t>
            </a:r>
          </a:p>
          <a:p>
            <a:pPr marL="36000">
              <a:lnSpc>
                <a:spcPct val="150000"/>
              </a:lnSpc>
            </a:pPr>
            <a:r>
              <a:rPr lang="en-IN" dirty="0"/>
              <a:t>The dataset was imported into Python using Pandas.</a:t>
            </a:r>
          </a:p>
          <a:p>
            <a:pPr marL="36000">
              <a:lnSpc>
                <a:spcPct val="150000"/>
              </a:lnSpc>
            </a:pPr>
            <a:r>
              <a:rPr lang="en-IN" dirty="0"/>
              <a:t>import pandas as pd</a:t>
            </a:r>
          </a:p>
          <a:p>
            <a:pPr marL="36000">
              <a:lnSpc>
                <a:spcPct val="150000"/>
              </a:lnSpc>
            </a:pPr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pPr marL="36000">
              <a:lnSpc>
                <a:spcPct val="150000"/>
              </a:lnSpc>
            </a:pPr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/>
              <a:t>plt</a:t>
            </a:r>
            <a:endParaRPr lang="en-IN" dirty="0"/>
          </a:p>
          <a:p>
            <a:pPr marL="36000">
              <a:lnSpc>
                <a:spcPct val="150000"/>
              </a:lnSpc>
            </a:pPr>
            <a:r>
              <a:rPr lang="en-IN" dirty="0"/>
              <a:t>import seaborn as </a:t>
            </a:r>
            <a:r>
              <a:rPr lang="en-IN" dirty="0" err="1"/>
              <a:t>sns</a:t>
            </a:r>
            <a:endParaRPr lang="en-IN" dirty="0"/>
          </a:p>
          <a:p>
            <a:pPr marL="36000">
              <a:lnSpc>
                <a:spcPct val="150000"/>
              </a:lnSpc>
            </a:pPr>
            <a:r>
              <a:rPr lang="en-IN" dirty="0"/>
              <a:t>The dataset can be loaded using:</a:t>
            </a:r>
          </a:p>
          <a:p>
            <a:pPr marL="36000">
              <a:lnSpc>
                <a:spcPct val="150000"/>
              </a:lnSpc>
            </a:pPr>
            <a:r>
              <a:rPr lang="en-IN" dirty="0"/>
              <a:t>food = </a:t>
            </a:r>
            <a:r>
              <a:rPr lang="en-IN" dirty="0" err="1"/>
              <a:t>pd.read_csv</a:t>
            </a:r>
            <a:r>
              <a:rPr lang="en-IN" dirty="0"/>
              <a:t>("food_delivery_orders_dataset.csv")</a:t>
            </a:r>
          </a:p>
          <a:p>
            <a:pPr marL="36000">
              <a:lnSpc>
                <a:spcPct val="150000"/>
              </a:lnSpc>
            </a:pPr>
            <a:r>
              <a:rPr lang="en-IN" dirty="0"/>
              <a:t>The first few records were examined </a:t>
            </a:r>
            <a:r>
              <a:rPr lang="en-IN" dirty="0" err="1"/>
              <a:t>using:food.head</a:t>
            </a:r>
            <a:r>
              <a:rPr lang="en-IN" dirty="0"/>
              <a:t>()The last few records were examined </a:t>
            </a:r>
            <a:r>
              <a:rPr lang="en-IN" dirty="0" err="1"/>
              <a:t>using:food.tail</a:t>
            </a:r>
            <a:r>
              <a:rPr lang="en-IN" dirty="0"/>
              <a:t>()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F583AA-7E61-AD3D-4A0E-7E1D3720CABE}"/>
              </a:ext>
            </a:extLst>
          </p:cNvPr>
          <p:cNvSpPr/>
          <p:nvPr/>
        </p:nvSpPr>
        <p:spPr>
          <a:xfrm>
            <a:off x="0" y="0"/>
            <a:ext cx="12391053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86BDBF-3A86-50F6-3720-8140DA612CA0}"/>
              </a:ext>
            </a:extLst>
          </p:cNvPr>
          <p:cNvSpPr/>
          <p:nvPr/>
        </p:nvSpPr>
        <p:spPr>
          <a:xfrm>
            <a:off x="0" y="6649156"/>
            <a:ext cx="12192000" cy="2088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464620"/>
      </p:ext>
    </p:extLst>
  </p:cSld>
  <p:clrMapOvr>
    <a:masterClrMapping/>
  </p:clrMapOvr>
  <p:transition spd="slow">
    <p:cover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FE3F4-BFFD-594B-81EA-E6FA5AD8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67C5CC-965D-7A7B-0F45-79DB9AE1DE80}"/>
              </a:ext>
            </a:extLst>
          </p:cNvPr>
          <p:cNvSpPr txBox="1"/>
          <p:nvPr/>
        </p:nvSpPr>
        <p:spPr>
          <a:xfrm>
            <a:off x="830423" y="253100"/>
            <a:ext cx="3956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6. Dataset Exploration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4272A-DC3F-7358-F1FF-37CAB8D6B06E}"/>
              </a:ext>
            </a:extLst>
          </p:cNvPr>
          <p:cNvSpPr txBox="1"/>
          <p:nvPr/>
        </p:nvSpPr>
        <p:spPr>
          <a:xfrm>
            <a:off x="373223" y="951953"/>
            <a:ext cx="912534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structure of the dataset was examined using:</a:t>
            </a:r>
          </a:p>
          <a:p>
            <a:r>
              <a:rPr lang="en-US" sz="1600" dirty="0"/>
              <a:t>print(</a:t>
            </a:r>
            <a:r>
              <a:rPr lang="en-US" sz="1600" dirty="0" err="1"/>
              <a:t>food.shape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print(</a:t>
            </a:r>
            <a:r>
              <a:rPr lang="en-US" sz="1600" dirty="0" err="1"/>
              <a:t>food.columns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print(</a:t>
            </a:r>
            <a:r>
              <a:rPr lang="en-US" sz="1600" dirty="0" err="1"/>
              <a:t>food.dtypes</a:t>
            </a:r>
            <a:r>
              <a:rPr lang="en-US" sz="1600" dirty="0"/>
              <a:t>)food.info()</a:t>
            </a:r>
          </a:p>
          <a:p>
            <a:endParaRPr lang="en-US" sz="1600" dirty="0"/>
          </a:p>
          <a:p>
            <a:r>
              <a:rPr lang="en-US" sz="1600" dirty="0"/>
              <a:t>The columns function displays the available fields.</a:t>
            </a:r>
          </a:p>
          <a:p>
            <a:endParaRPr lang="en-US" sz="1600" dirty="0"/>
          </a:p>
          <a:p>
            <a:r>
              <a:rPr lang="en-US" sz="1600" dirty="0"/>
              <a:t>The info() function provides information about:</a:t>
            </a:r>
          </a:p>
          <a:p>
            <a:endParaRPr lang="en-US" sz="1600" dirty="0"/>
          </a:p>
          <a:p>
            <a:r>
              <a:rPr lang="en-US" sz="1600" dirty="0"/>
              <a:t>Column names</a:t>
            </a:r>
          </a:p>
          <a:p>
            <a:endParaRPr lang="en-US" sz="1600" dirty="0"/>
          </a:p>
          <a:p>
            <a:r>
              <a:rPr lang="en-US" sz="1600" dirty="0"/>
              <a:t>Data types</a:t>
            </a:r>
          </a:p>
          <a:p>
            <a:endParaRPr lang="en-US" sz="1600" dirty="0"/>
          </a:p>
          <a:p>
            <a:r>
              <a:rPr lang="en-US" sz="1600" dirty="0"/>
              <a:t>Number of non-null values</a:t>
            </a:r>
          </a:p>
          <a:p>
            <a:endParaRPr lang="en-US" sz="1600" dirty="0"/>
          </a:p>
          <a:p>
            <a:r>
              <a:rPr lang="en-US" sz="1600" dirty="0"/>
              <a:t>Missing values</a:t>
            </a:r>
          </a:p>
          <a:p>
            <a:endParaRPr lang="en-US" sz="1600" dirty="0"/>
          </a:p>
          <a:p>
            <a:r>
              <a:rPr lang="en-US" sz="1600" dirty="0"/>
              <a:t>Summary statistics were obtained using:</a:t>
            </a:r>
          </a:p>
          <a:p>
            <a:endParaRPr lang="en-US" sz="1600" dirty="0"/>
          </a:p>
          <a:p>
            <a:r>
              <a:rPr lang="en-US" sz="1600" dirty="0" err="1"/>
              <a:t>food.describe</a:t>
            </a:r>
            <a:r>
              <a:rPr lang="en-US" sz="1600" dirty="0"/>
              <a:t>()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66F53-D4DE-5B91-5B9E-44D60902C09F}"/>
              </a:ext>
            </a:extLst>
          </p:cNvPr>
          <p:cNvSpPr/>
          <p:nvPr/>
        </p:nvSpPr>
        <p:spPr>
          <a:xfrm>
            <a:off x="0" y="0"/>
            <a:ext cx="12192000" cy="2332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DB05D-2A0D-DF11-1D8D-D23A36E2F0B0}"/>
              </a:ext>
            </a:extLst>
          </p:cNvPr>
          <p:cNvSpPr/>
          <p:nvPr/>
        </p:nvSpPr>
        <p:spPr>
          <a:xfrm>
            <a:off x="11289" y="6547556"/>
            <a:ext cx="12056533" cy="3104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753972"/>
      </p:ext>
    </p:extLst>
  </p:cSld>
  <p:clrMapOvr>
    <a:masterClrMapping/>
  </p:clrMapOvr>
  <p:transition spd="slow">
    <p:cover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E8D34-BE9F-31D9-FFB6-FC99246B5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EDEDCA-C68D-7368-D7AA-91D6718CEA13}"/>
              </a:ext>
            </a:extLst>
          </p:cNvPr>
          <p:cNvSpPr txBox="1"/>
          <p:nvPr/>
        </p:nvSpPr>
        <p:spPr>
          <a:xfrm>
            <a:off x="548174" y="982177"/>
            <a:ext cx="60975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7.1 </a:t>
            </a:r>
            <a:r>
              <a:rPr lang="en-IN" b="1" dirty="0">
                <a:solidFill>
                  <a:srgbClr val="FF0000"/>
                </a:solidFill>
              </a:rPr>
              <a:t>Checking Missing Values</a:t>
            </a:r>
          </a:p>
          <a:p>
            <a:endParaRPr lang="en-IN" dirty="0"/>
          </a:p>
          <a:p>
            <a:r>
              <a:rPr lang="en-IN" sz="1600" dirty="0"/>
              <a:t>Missing values were identified using:</a:t>
            </a:r>
          </a:p>
          <a:p>
            <a:endParaRPr lang="en-IN" sz="1600" dirty="0"/>
          </a:p>
          <a:p>
            <a:r>
              <a:rPr lang="en-IN" sz="1600" dirty="0" err="1"/>
              <a:t>food.isnull</a:t>
            </a:r>
            <a:r>
              <a:rPr lang="en-IN" sz="1600" dirty="0"/>
              <a:t>().sum()</a:t>
            </a:r>
          </a:p>
          <a:p>
            <a:endParaRPr lang="en-IN" sz="1600" dirty="0"/>
          </a:p>
          <a:p>
            <a:r>
              <a:rPr lang="en-IN" sz="1600" dirty="0"/>
              <a:t>The percentage of missing values can also be calculated:</a:t>
            </a:r>
          </a:p>
          <a:p>
            <a:endParaRPr lang="en-IN" sz="1600" dirty="0"/>
          </a:p>
          <a:p>
            <a:r>
              <a:rPr lang="en-IN" sz="1600" dirty="0"/>
              <a:t>(food.isnull().sum() / </a:t>
            </a:r>
            <a:r>
              <a:rPr lang="en-IN" sz="1600" dirty="0" err="1"/>
              <a:t>len</a:t>
            </a:r>
            <a:r>
              <a:rPr lang="en-IN" sz="1600" dirty="0"/>
              <a:t>(food)) * 100</a:t>
            </a:r>
          </a:p>
          <a:p>
            <a:endParaRPr lang="en-IN" sz="1600" dirty="0"/>
          </a:p>
          <a:p>
            <a:r>
              <a:rPr lang="en-IN" sz="1600" dirty="0"/>
              <a:t>Missing numerical values can be handled using the median where appropriate.</a:t>
            </a:r>
          </a:p>
          <a:p>
            <a:endParaRPr lang="en-IN" sz="1600" dirty="0"/>
          </a:p>
          <a:p>
            <a:r>
              <a:rPr lang="en-IN" sz="1600" dirty="0"/>
              <a:t>For example:</a:t>
            </a:r>
          </a:p>
          <a:p>
            <a:endParaRPr lang="en-IN" sz="1600" dirty="0"/>
          </a:p>
          <a:p>
            <a:r>
              <a:rPr lang="en-IN" sz="1600" dirty="0"/>
              <a:t>food["</a:t>
            </a:r>
            <a:r>
              <a:rPr lang="en-IN" sz="1600" dirty="0" err="1"/>
              <a:t>distance_km</a:t>
            </a:r>
            <a:r>
              <a:rPr lang="en-IN" sz="1600" dirty="0"/>
              <a:t>"] = food["</a:t>
            </a:r>
            <a:r>
              <a:rPr lang="en-IN" sz="1600" dirty="0" err="1"/>
              <a:t>distance_km</a:t>
            </a:r>
            <a:r>
              <a:rPr lang="en-IN" sz="1600" dirty="0"/>
              <a:t>"].</a:t>
            </a:r>
            <a:r>
              <a:rPr lang="en-IN" sz="1600" dirty="0" err="1"/>
              <a:t>fillna</a:t>
            </a:r>
            <a:r>
              <a:rPr lang="en-IN" sz="1600" dirty="0"/>
              <a:t>(    food["</a:t>
            </a:r>
            <a:r>
              <a:rPr lang="en-IN" sz="1600" dirty="0" err="1"/>
              <a:t>distance_km</a:t>
            </a:r>
            <a:r>
              <a:rPr lang="en-IN" sz="1600" dirty="0"/>
              <a:t>"].median())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7C76C-6618-AE74-9A66-AC4C0965BAEC}"/>
              </a:ext>
            </a:extLst>
          </p:cNvPr>
          <p:cNvSpPr/>
          <p:nvPr/>
        </p:nvSpPr>
        <p:spPr>
          <a:xfrm>
            <a:off x="0" y="0"/>
            <a:ext cx="12192000" cy="2705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DE2186-B8C1-B04F-34C2-0D0FF740F8BA}"/>
              </a:ext>
            </a:extLst>
          </p:cNvPr>
          <p:cNvSpPr/>
          <p:nvPr/>
        </p:nvSpPr>
        <p:spPr>
          <a:xfrm>
            <a:off x="0" y="6683022"/>
            <a:ext cx="12192000" cy="27058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108686"/>
      </p:ext>
    </p:extLst>
  </p:cSld>
  <p:clrMapOvr>
    <a:masterClrMapping/>
  </p:clrMapOvr>
  <p:transition spd="slow">
    <p:cover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936A3-98A0-1215-B219-B5E5DE6D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54AE56-8A38-F69C-C819-AD5FE36BAAE3}"/>
              </a:ext>
            </a:extLst>
          </p:cNvPr>
          <p:cNvSpPr txBox="1"/>
          <p:nvPr/>
        </p:nvSpPr>
        <p:spPr>
          <a:xfrm>
            <a:off x="370658" y="859006"/>
            <a:ext cx="965018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Feature Engineering</a:t>
            </a:r>
          </a:p>
          <a:p>
            <a:r>
              <a:rPr lang="en-US" sz="1200" dirty="0"/>
              <a:t>New columns were created to make the dataset more useful for analysis.</a:t>
            </a:r>
          </a:p>
          <a:p>
            <a:endParaRPr lang="en-US" sz="1200" dirty="0"/>
          </a:p>
          <a:p>
            <a:r>
              <a:rPr lang="en-US" sz="1200" dirty="0"/>
              <a:t>Order Date Features</a:t>
            </a:r>
          </a:p>
          <a:p>
            <a:r>
              <a:rPr lang="en-US" sz="1200" dirty="0"/>
              <a:t>The order date was converted into a datetime format when the original date column was available.</a:t>
            </a:r>
          </a:p>
          <a:p>
            <a:endParaRPr lang="en-US" sz="1200" dirty="0"/>
          </a:p>
          <a:p>
            <a:r>
              <a:rPr lang="en-US" sz="1200" dirty="0"/>
              <a:t>From the date, the following features were created:</a:t>
            </a:r>
          </a:p>
          <a:p>
            <a:endParaRPr lang="en-US" sz="1200" dirty="0"/>
          </a:p>
          <a:p>
            <a:r>
              <a:rPr lang="en-US" sz="1200" dirty="0"/>
              <a:t>Order Day </a:t>
            </a:r>
          </a:p>
          <a:p>
            <a:r>
              <a:rPr lang="en-US" sz="1200" dirty="0"/>
              <a:t>Order Month </a:t>
            </a:r>
          </a:p>
          <a:p>
            <a:r>
              <a:rPr lang="en-US" sz="1200" dirty="0"/>
              <a:t>Order Year</a:t>
            </a:r>
          </a:p>
          <a:p>
            <a:endParaRPr lang="en-US" sz="1200" dirty="0"/>
          </a:p>
          <a:p>
            <a:r>
              <a:rPr lang="en-US" sz="1200" dirty="0"/>
              <a:t>These features help analyze order patterns over time.</a:t>
            </a:r>
          </a:p>
          <a:p>
            <a:endParaRPr lang="en-US" sz="1200" dirty="0"/>
          </a:p>
          <a:p>
            <a:r>
              <a:rPr lang="en-US" sz="1200" dirty="0"/>
              <a:t>Calculated Total</a:t>
            </a:r>
          </a:p>
          <a:p>
            <a:endParaRPr lang="en-US" sz="1200" dirty="0"/>
          </a:p>
          <a:p>
            <a:r>
              <a:rPr lang="en-US" sz="1200" dirty="0"/>
              <a:t>A calculated total can be created from the available monetary fields.</a:t>
            </a:r>
          </a:p>
          <a:p>
            <a:endParaRPr lang="en-US" sz="1200" dirty="0"/>
          </a:p>
          <a:p>
            <a:r>
              <a:rPr lang="en-US" sz="1200" dirty="0"/>
              <a:t>For example:</a:t>
            </a:r>
          </a:p>
          <a:p>
            <a:endParaRPr lang="en-US" sz="1200" dirty="0"/>
          </a:p>
          <a:p>
            <a:r>
              <a:rPr lang="en-US" sz="1200" dirty="0"/>
              <a:t>food["</a:t>
            </a:r>
            <a:r>
              <a:rPr lang="en-US" sz="1200" dirty="0" err="1"/>
              <a:t>Calculated_Total</a:t>
            </a:r>
            <a:r>
              <a:rPr lang="en-US" sz="1200" dirty="0"/>
              <a:t>"] = </a:t>
            </a:r>
          </a:p>
          <a:p>
            <a:endParaRPr lang="en-US" sz="1200" dirty="0"/>
          </a:p>
          <a:p>
            <a:r>
              <a:rPr lang="en-US" sz="1200" dirty="0"/>
              <a:t>(    food["</a:t>
            </a:r>
            <a:r>
              <a:rPr lang="en-US" sz="1200" dirty="0" err="1"/>
              <a:t>order_total</a:t>
            </a:r>
            <a:r>
              <a:rPr lang="en-US" sz="1200" dirty="0"/>
              <a:t>"] +   </a:t>
            </a:r>
          </a:p>
          <a:p>
            <a:endParaRPr lang="en-US" sz="1200" dirty="0"/>
          </a:p>
          <a:p>
            <a:r>
              <a:rPr lang="en-US" sz="1200" dirty="0"/>
              <a:t> food["</a:t>
            </a:r>
            <a:r>
              <a:rPr lang="en-US" sz="1200" dirty="0" err="1"/>
              <a:t>delivery_fee</a:t>
            </a:r>
            <a:r>
              <a:rPr lang="en-US" sz="1200" dirty="0"/>
              <a:t>"] +   </a:t>
            </a:r>
          </a:p>
          <a:p>
            <a:r>
              <a:rPr lang="en-US" sz="1200" dirty="0"/>
              <a:t> </a:t>
            </a:r>
          </a:p>
          <a:p>
            <a:r>
              <a:rPr lang="en-US" sz="1200" dirty="0"/>
              <a:t>food["</a:t>
            </a:r>
            <a:r>
              <a:rPr lang="en-US" sz="1200" dirty="0" err="1"/>
              <a:t>tip_amount</a:t>
            </a:r>
            <a:r>
              <a:rPr lang="en-US" sz="1200" dirty="0"/>
              <a:t>"])</a:t>
            </a:r>
          </a:p>
          <a:p>
            <a:endParaRPr lang="en-US" sz="1200" dirty="0"/>
          </a:p>
          <a:p>
            <a:r>
              <a:rPr lang="en-US" sz="1200" dirty="0"/>
              <a:t>This provides a combined amount including the order value, delivery fee, and </a:t>
            </a:r>
            <a:r>
              <a:rPr lang="en-US" sz="1200" dirty="0" err="1"/>
              <a:t>tip.The</a:t>
            </a:r>
            <a:r>
              <a:rPr lang="en-US" sz="1200" dirty="0"/>
              <a:t> exact formula should be adjusted if </a:t>
            </a:r>
            <a:r>
              <a:rPr lang="en-US" sz="1200" dirty="0" err="1"/>
              <a:t>order_total</a:t>
            </a:r>
            <a:r>
              <a:rPr lang="en-US" sz="1200" dirty="0"/>
              <a:t> in the dataset already includes delivery charges</a:t>
            </a:r>
            <a:endParaRPr lang="en-IN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6D941-B2BB-487B-A5A0-A448CA9D583A}"/>
              </a:ext>
            </a:extLst>
          </p:cNvPr>
          <p:cNvSpPr/>
          <p:nvPr/>
        </p:nvSpPr>
        <p:spPr>
          <a:xfrm>
            <a:off x="0" y="0"/>
            <a:ext cx="12279086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E57D91-C511-22CD-6B78-51CB9FB1BE1C}"/>
              </a:ext>
            </a:extLst>
          </p:cNvPr>
          <p:cNvSpPr/>
          <p:nvPr/>
        </p:nvSpPr>
        <p:spPr>
          <a:xfrm>
            <a:off x="0" y="6552872"/>
            <a:ext cx="12192000" cy="30512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42030"/>
      </p:ext>
    </p:extLst>
  </p:cSld>
  <p:clrMapOvr>
    <a:masterClrMapping/>
  </p:clrMapOvr>
  <p:transition spd="slow">
    <p:cover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D564B-C0F0-5826-F23A-785546BD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44227B-BC26-04F8-EC85-432BAEDA4977}"/>
              </a:ext>
            </a:extLst>
          </p:cNvPr>
          <p:cNvSpPr txBox="1"/>
          <p:nvPr/>
        </p:nvSpPr>
        <p:spPr>
          <a:xfrm>
            <a:off x="473528" y="458956"/>
            <a:ext cx="9650185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Statistical Analysis</a:t>
            </a:r>
          </a:p>
          <a:p>
            <a:endParaRPr lang="en-US" sz="1200" dirty="0"/>
          </a:p>
          <a:p>
            <a:r>
              <a:rPr lang="en-US" sz="1200" dirty="0"/>
              <a:t>Statistical measures were calculated for important numerical variables.</a:t>
            </a:r>
          </a:p>
          <a:p>
            <a:endParaRPr lang="en-US" sz="1200" dirty="0"/>
          </a:p>
          <a:p>
            <a:r>
              <a:rPr lang="en-US" sz="1200" dirty="0"/>
              <a:t>The analysis includes:</a:t>
            </a:r>
          </a:p>
          <a:p>
            <a:endParaRPr lang="en-US" sz="1200" dirty="0"/>
          </a:p>
          <a:p>
            <a:r>
              <a:rPr lang="en-US" sz="1200" dirty="0"/>
              <a:t>Mean</a:t>
            </a:r>
          </a:p>
          <a:p>
            <a:endParaRPr lang="en-US" sz="1200" dirty="0"/>
          </a:p>
          <a:p>
            <a:r>
              <a:rPr lang="en-US" sz="1200" dirty="0"/>
              <a:t>Median</a:t>
            </a:r>
          </a:p>
          <a:p>
            <a:endParaRPr lang="en-US" sz="1200" dirty="0"/>
          </a:p>
          <a:p>
            <a:r>
              <a:rPr lang="en-US" sz="1200" dirty="0"/>
              <a:t>Minimum</a:t>
            </a:r>
          </a:p>
          <a:p>
            <a:endParaRPr lang="en-US" sz="1200" dirty="0"/>
          </a:p>
          <a:p>
            <a:r>
              <a:rPr lang="en-US" sz="1200" dirty="0"/>
              <a:t>Maximum</a:t>
            </a:r>
          </a:p>
          <a:p>
            <a:endParaRPr lang="en-US" sz="1200" dirty="0"/>
          </a:p>
          <a:p>
            <a:r>
              <a:rPr lang="en-US" sz="1200" dirty="0"/>
              <a:t>Standard deviation</a:t>
            </a:r>
          </a:p>
          <a:p>
            <a:endParaRPr lang="en-US" sz="1200" dirty="0"/>
          </a:p>
          <a:p>
            <a:r>
              <a:rPr lang="en-US" sz="1200" dirty="0" err="1"/>
              <a:t>VariancePercentiles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Example:</a:t>
            </a:r>
          </a:p>
          <a:p>
            <a:endParaRPr lang="en-US" sz="1200" dirty="0"/>
          </a:p>
          <a:p>
            <a:r>
              <a:rPr lang="en-US" sz="1200" dirty="0"/>
              <a:t>print("Average Order Total:", food["</a:t>
            </a:r>
            <a:r>
              <a:rPr lang="en-US" sz="1200" dirty="0" err="1"/>
              <a:t>order_total</a:t>
            </a:r>
            <a:r>
              <a:rPr lang="en-US" sz="1200" dirty="0"/>
              <a:t>"].mean())</a:t>
            </a:r>
          </a:p>
          <a:p>
            <a:endParaRPr lang="en-US" sz="1200" dirty="0"/>
          </a:p>
          <a:p>
            <a:r>
              <a:rPr lang="en-US" sz="1200" dirty="0"/>
              <a:t>print("Median Order Total:", food["</a:t>
            </a:r>
            <a:r>
              <a:rPr lang="en-US" sz="1200" dirty="0" err="1"/>
              <a:t>order_total</a:t>
            </a:r>
            <a:r>
              <a:rPr lang="en-US" sz="1200" dirty="0"/>
              <a:t>"].median())</a:t>
            </a:r>
          </a:p>
          <a:p>
            <a:endParaRPr lang="en-US" sz="1200" dirty="0"/>
          </a:p>
          <a:p>
            <a:r>
              <a:rPr lang="en-US" sz="1200" dirty="0"/>
              <a:t>print("Average Distance:", food["</a:t>
            </a:r>
            <a:r>
              <a:rPr lang="en-US" sz="1200" dirty="0" err="1"/>
              <a:t>distance_km</a:t>
            </a:r>
            <a:r>
              <a:rPr lang="en-US" sz="1200" dirty="0"/>
              <a:t>"].mean())</a:t>
            </a:r>
          </a:p>
          <a:p>
            <a:endParaRPr lang="en-US" sz="1200" dirty="0"/>
          </a:p>
          <a:p>
            <a:r>
              <a:rPr lang="en-US" sz="1200" dirty="0"/>
              <a:t>print("Average Delivery Time:",      food["</a:t>
            </a:r>
            <a:r>
              <a:rPr lang="en-US" sz="1200" dirty="0" err="1"/>
              <a:t>actual_delivery_time_minutes</a:t>
            </a:r>
            <a:r>
              <a:rPr lang="en-US" sz="1200" dirty="0"/>
              <a:t>"].mean())</a:t>
            </a:r>
          </a:p>
          <a:p>
            <a:endParaRPr lang="en-US" sz="1200" dirty="0"/>
          </a:p>
          <a:p>
            <a:r>
              <a:rPr lang="en-US" sz="1200" dirty="0"/>
              <a:t>print("Average Customer Rating:",      food["</a:t>
            </a:r>
            <a:r>
              <a:rPr lang="en-US" sz="1200" dirty="0" err="1"/>
              <a:t>customer_rating</a:t>
            </a:r>
            <a:r>
              <a:rPr lang="en-US" sz="1200" dirty="0"/>
              <a:t>"].mean())</a:t>
            </a:r>
          </a:p>
          <a:p>
            <a:endParaRPr lang="en-US" sz="1200" dirty="0"/>
          </a:p>
          <a:p>
            <a:r>
              <a:rPr lang="en-US" sz="1200" dirty="0"/>
              <a:t>These values provide an overall numerical understanding of food delivery operations.</a:t>
            </a:r>
            <a:endParaRPr lang="en-IN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676DE2-70A6-2033-2236-D069025E4879}"/>
              </a:ext>
            </a:extLst>
          </p:cNvPr>
          <p:cNvSpPr/>
          <p:nvPr/>
        </p:nvSpPr>
        <p:spPr>
          <a:xfrm>
            <a:off x="0" y="0"/>
            <a:ext cx="12279086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370C28-626C-B608-D412-357F84E0B90B}"/>
              </a:ext>
            </a:extLst>
          </p:cNvPr>
          <p:cNvSpPr/>
          <p:nvPr/>
        </p:nvSpPr>
        <p:spPr>
          <a:xfrm>
            <a:off x="0" y="6626578"/>
            <a:ext cx="12192000" cy="23142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741218"/>
      </p:ext>
    </p:extLst>
  </p:cSld>
  <p:clrMapOvr>
    <a:masterClrMapping/>
  </p:clrMapOvr>
  <p:transition spd="slow">
    <p:cover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6A637-9132-AB72-96F0-97EFD7522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F6E235-E87A-C9E1-30CA-6AD62FC43082}"/>
              </a:ext>
            </a:extLst>
          </p:cNvPr>
          <p:cNvSpPr txBox="1"/>
          <p:nvPr/>
        </p:nvSpPr>
        <p:spPr>
          <a:xfrm>
            <a:off x="473528" y="458956"/>
            <a:ext cx="96501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Order Analysis:</a:t>
            </a:r>
          </a:p>
          <a:p>
            <a:endParaRPr lang="en-US" dirty="0"/>
          </a:p>
          <a:p>
            <a:r>
              <a:rPr lang="en-US" dirty="0"/>
              <a:t>The order total was analyzed to understand customer spending.</a:t>
            </a:r>
          </a:p>
          <a:p>
            <a:endParaRPr lang="en-US" dirty="0"/>
          </a:p>
          <a:p>
            <a:r>
              <a:rPr lang="en-US" dirty="0"/>
              <a:t>food["</a:t>
            </a:r>
            <a:r>
              <a:rPr lang="en-US" dirty="0" err="1"/>
              <a:t>order_total</a:t>
            </a:r>
            <a:r>
              <a:rPr lang="en-US" dirty="0"/>
              <a:t>"].describe()</a:t>
            </a:r>
          </a:p>
          <a:p>
            <a:endParaRPr lang="en-US" dirty="0"/>
          </a:p>
          <a:p>
            <a:r>
              <a:rPr lang="en-US" dirty="0"/>
              <a:t>This helps identify:</a:t>
            </a:r>
          </a:p>
          <a:p>
            <a:endParaRPr lang="en-US" dirty="0"/>
          </a:p>
          <a:p>
            <a:r>
              <a:rPr lang="en-US" dirty="0"/>
              <a:t>Typical order value</a:t>
            </a:r>
          </a:p>
          <a:p>
            <a:r>
              <a:rPr lang="en-US" dirty="0"/>
              <a:t>Lowest order value</a:t>
            </a:r>
          </a:p>
          <a:p>
            <a:r>
              <a:rPr lang="en-US" dirty="0"/>
              <a:t>Highest order value</a:t>
            </a:r>
          </a:p>
          <a:p>
            <a:r>
              <a:rPr lang="en-US" dirty="0"/>
              <a:t>Variation in order amounts</a:t>
            </a:r>
          </a:p>
          <a:p>
            <a:endParaRPr lang="en-US" dirty="0"/>
          </a:p>
          <a:p>
            <a:r>
              <a:rPr lang="en-US" dirty="0"/>
              <a:t>A histogram can also be used to understand the distribution of order values.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B234F6-B258-9604-8556-6954ED768120}"/>
              </a:ext>
            </a:extLst>
          </p:cNvPr>
          <p:cNvSpPr/>
          <p:nvPr/>
        </p:nvSpPr>
        <p:spPr>
          <a:xfrm>
            <a:off x="-1" y="0"/>
            <a:ext cx="12180711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8760DD-7C5E-9E21-4CC2-64D5E3CA03B6}"/>
              </a:ext>
            </a:extLst>
          </p:cNvPr>
          <p:cNvSpPr/>
          <p:nvPr/>
        </p:nvSpPr>
        <p:spPr>
          <a:xfrm>
            <a:off x="-1" y="6660444"/>
            <a:ext cx="12180711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555529"/>
      </p:ext>
    </p:extLst>
  </p:cSld>
  <p:clrMapOvr>
    <a:masterClrMapping/>
  </p:clrMapOvr>
  <p:transition spd="slow">
    <p:cover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3F706-DA7D-64B8-1CE0-A629B373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728C6F-5352-F05F-508C-46754DC9687A}"/>
              </a:ext>
            </a:extLst>
          </p:cNvPr>
          <p:cNvSpPr txBox="1"/>
          <p:nvPr/>
        </p:nvSpPr>
        <p:spPr>
          <a:xfrm>
            <a:off x="473528" y="458956"/>
            <a:ext cx="96501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Restaurant Preparation Analysis</a:t>
            </a:r>
          </a:p>
          <a:p>
            <a:endParaRPr lang="en-US" dirty="0"/>
          </a:p>
          <a:p>
            <a:r>
              <a:rPr lang="en-US" dirty="0"/>
              <a:t>Restaurant preparation time was analyzed using:</a:t>
            </a:r>
          </a:p>
          <a:p>
            <a:endParaRPr lang="en-US" dirty="0"/>
          </a:p>
          <a:p>
            <a:r>
              <a:rPr lang="en-US" dirty="0"/>
              <a:t>food["</a:t>
            </a:r>
            <a:r>
              <a:rPr lang="en-US" dirty="0" err="1"/>
              <a:t>restaurant_preparation_time_minutes</a:t>
            </a:r>
            <a:r>
              <a:rPr lang="en-US" dirty="0"/>
              <a:t>"].describe()</a:t>
            </a:r>
          </a:p>
          <a:p>
            <a:endParaRPr lang="en-US" dirty="0"/>
          </a:p>
          <a:p>
            <a:r>
              <a:rPr lang="en-US" dirty="0"/>
              <a:t>This helps determine how much time restaurants generally require before an order is ready for delivery.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56CED7-C20F-B1D8-1508-3D5923DFB57B}"/>
              </a:ext>
            </a:extLst>
          </p:cNvPr>
          <p:cNvSpPr/>
          <p:nvPr/>
        </p:nvSpPr>
        <p:spPr>
          <a:xfrm>
            <a:off x="0" y="0"/>
            <a:ext cx="12279086" cy="22393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864D5-7D46-C2FB-7989-3843C1581CA5}"/>
              </a:ext>
            </a:extLst>
          </p:cNvPr>
          <p:cNvSpPr/>
          <p:nvPr/>
        </p:nvSpPr>
        <p:spPr>
          <a:xfrm>
            <a:off x="0" y="6671733"/>
            <a:ext cx="12192000" cy="1862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111417"/>
      </p:ext>
    </p:extLst>
  </p:cSld>
  <p:clrMapOvr>
    <a:masterClrMapping/>
  </p:clrMapOvr>
  <p:transition spd="slow">
    <p:cover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1AD57-E515-B12C-7AFB-4B37E53E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61EFF2-7EE8-3DB2-A328-8FE7698E3AAC}"/>
              </a:ext>
            </a:extLst>
          </p:cNvPr>
          <p:cNvSpPr txBox="1"/>
          <p:nvPr/>
        </p:nvSpPr>
        <p:spPr>
          <a:xfrm>
            <a:off x="277586" y="481028"/>
            <a:ext cx="111897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Customer Rating Analysis:</a:t>
            </a:r>
          </a:p>
          <a:p>
            <a:endParaRPr lang="en-IN" dirty="0"/>
          </a:p>
          <a:p>
            <a:r>
              <a:rPr lang="en-IN" dirty="0"/>
              <a:t>Customer ratings were </a:t>
            </a:r>
            <a:r>
              <a:rPr lang="en-IN" dirty="0" err="1"/>
              <a:t>analyzed</a:t>
            </a:r>
            <a:r>
              <a:rPr lang="en-IN" dirty="0"/>
              <a:t> to understand customer satisfaction.</a:t>
            </a:r>
          </a:p>
          <a:p>
            <a:endParaRPr lang="en-IN" dirty="0"/>
          </a:p>
          <a:p>
            <a:r>
              <a:rPr lang="en-IN" dirty="0"/>
              <a:t>food["</a:t>
            </a:r>
            <a:r>
              <a:rPr lang="en-IN" dirty="0" err="1"/>
              <a:t>customer_rating</a:t>
            </a:r>
            <a:r>
              <a:rPr lang="en-IN" dirty="0"/>
              <a:t>"].</a:t>
            </a:r>
            <a:r>
              <a:rPr lang="en-IN" dirty="0" err="1"/>
              <a:t>value_counts</a:t>
            </a:r>
            <a:r>
              <a:rPr lang="en-IN" dirty="0"/>
              <a:t>().</a:t>
            </a:r>
            <a:r>
              <a:rPr lang="en-IN" dirty="0" err="1"/>
              <a:t>sort_index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The average rating was calculated using:</a:t>
            </a:r>
          </a:p>
          <a:p>
            <a:endParaRPr lang="en-IN" dirty="0"/>
          </a:p>
          <a:p>
            <a:r>
              <a:rPr lang="en-IN" dirty="0"/>
              <a:t>food["</a:t>
            </a:r>
            <a:r>
              <a:rPr lang="en-IN" dirty="0" err="1"/>
              <a:t>customer_rating</a:t>
            </a:r>
            <a:r>
              <a:rPr lang="en-IN" dirty="0"/>
              <a:t>"].mean()</a:t>
            </a:r>
          </a:p>
          <a:p>
            <a:endParaRPr lang="en-IN" dirty="0"/>
          </a:p>
          <a:p>
            <a:r>
              <a:rPr lang="en-IN" dirty="0"/>
              <a:t>A higher average rating indicates stronger customer satisfaction within the </a:t>
            </a:r>
            <a:r>
              <a:rPr lang="en-IN" dirty="0" err="1"/>
              <a:t>analyzed</a:t>
            </a:r>
            <a:r>
              <a:rPr lang="en-IN" dirty="0"/>
              <a:t> dataset, while lower ratings </a:t>
            </a:r>
          </a:p>
          <a:p>
            <a:r>
              <a:rPr lang="en-IN" dirty="0"/>
              <a:t>can indicate orders that may require further investigation.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2788C0-A3B0-386E-CF66-432045A6DE6C}"/>
              </a:ext>
            </a:extLst>
          </p:cNvPr>
          <p:cNvSpPr/>
          <p:nvPr/>
        </p:nvSpPr>
        <p:spPr>
          <a:xfrm>
            <a:off x="1" y="0"/>
            <a:ext cx="12192000" cy="2519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222F99-DB41-65A8-1216-02320E81A935}"/>
              </a:ext>
            </a:extLst>
          </p:cNvPr>
          <p:cNvSpPr/>
          <p:nvPr/>
        </p:nvSpPr>
        <p:spPr>
          <a:xfrm>
            <a:off x="-90311" y="6671733"/>
            <a:ext cx="12282312" cy="1862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17762"/>
      </p:ext>
    </p:extLst>
  </p:cSld>
  <p:clrMapOvr>
    <a:masterClrMapping/>
  </p:clrMapOvr>
  <p:transition spd="slow">
    <p:cover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81F50-687E-4E36-373D-39354FC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8DCFC3-FAB3-0049-B582-851F914CED77}"/>
              </a:ext>
            </a:extLst>
          </p:cNvPr>
          <p:cNvSpPr txBox="1"/>
          <p:nvPr/>
        </p:nvSpPr>
        <p:spPr>
          <a:xfrm>
            <a:off x="277586" y="401018"/>
            <a:ext cx="111897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Delivery Fee and Tip Analysis</a:t>
            </a:r>
          </a:p>
          <a:p>
            <a:endParaRPr lang="en-US" dirty="0"/>
          </a:p>
          <a:p>
            <a:r>
              <a:rPr lang="en-US" dirty="0"/>
              <a:t>Delivery fees were analyzed using:</a:t>
            </a:r>
          </a:p>
          <a:p>
            <a:endParaRPr lang="en-US" dirty="0"/>
          </a:p>
          <a:p>
            <a:r>
              <a:rPr lang="en-US" dirty="0"/>
              <a:t>food["</a:t>
            </a:r>
            <a:r>
              <a:rPr lang="en-US" dirty="0" err="1"/>
              <a:t>delivery_fee</a:t>
            </a:r>
            <a:r>
              <a:rPr lang="en-US" dirty="0"/>
              <a:t>"].describe()</a:t>
            </a:r>
          </a:p>
          <a:p>
            <a:endParaRPr lang="en-US" dirty="0"/>
          </a:p>
          <a:p>
            <a:r>
              <a:rPr lang="en-US" dirty="0"/>
              <a:t>Tips were analyzed using:</a:t>
            </a:r>
          </a:p>
          <a:p>
            <a:endParaRPr lang="en-US" dirty="0"/>
          </a:p>
          <a:p>
            <a:r>
              <a:rPr lang="en-US" dirty="0"/>
              <a:t>food["</a:t>
            </a:r>
            <a:r>
              <a:rPr lang="en-US" dirty="0" err="1"/>
              <a:t>tip_amount</a:t>
            </a:r>
            <a:r>
              <a:rPr lang="en-US" dirty="0"/>
              <a:t>"].describe()</a:t>
            </a:r>
          </a:p>
          <a:p>
            <a:endParaRPr lang="en-US" dirty="0"/>
          </a:p>
          <a:p>
            <a:r>
              <a:rPr lang="en-US" dirty="0"/>
              <a:t>These analyses help understand additional charges and customer tipping behavior.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30F5A2-E22C-9DDC-1974-FC6D0E64F85F}"/>
              </a:ext>
            </a:extLst>
          </p:cNvPr>
          <p:cNvSpPr/>
          <p:nvPr/>
        </p:nvSpPr>
        <p:spPr>
          <a:xfrm>
            <a:off x="0" y="-209939"/>
            <a:ext cx="12192000" cy="2099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06AF8-E777-335A-2519-C602FC19DCB5}"/>
              </a:ext>
            </a:extLst>
          </p:cNvPr>
          <p:cNvSpPr/>
          <p:nvPr/>
        </p:nvSpPr>
        <p:spPr>
          <a:xfrm>
            <a:off x="0" y="6683022"/>
            <a:ext cx="12192000" cy="1749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920719"/>
      </p:ext>
    </p:extLst>
  </p:cSld>
  <p:clrMapOvr>
    <a:masterClrMapping/>
  </p:clrMapOvr>
  <p:transition spd="slow">
    <p:cover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18DF1-DBC4-D291-A382-4B9B6D2D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F5A6B9-8060-22B2-314B-AA325AC16BEC}"/>
              </a:ext>
            </a:extLst>
          </p:cNvPr>
          <p:cNvSpPr txBox="1"/>
          <p:nvPr/>
        </p:nvSpPr>
        <p:spPr>
          <a:xfrm>
            <a:off x="369026" y="435308"/>
            <a:ext cx="111897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Key Project Insights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Insight 1 — Order Value</a:t>
            </a:r>
          </a:p>
          <a:p>
            <a:endParaRPr lang="en-US" dirty="0"/>
          </a:p>
          <a:p>
            <a:r>
              <a:rPr lang="en-US" dirty="0"/>
              <a:t>The analysis of </a:t>
            </a:r>
            <a:r>
              <a:rPr lang="en-US" dirty="0" err="1"/>
              <a:t>order_total</a:t>
            </a:r>
            <a:r>
              <a:rPr lang="en-US" dirty="0"/>
              <a:t> provides information about customer spending patterns.</a:t>
            </a:r>
          </a:p>
          <a:p>
            <a:endParaRPr lang="en-US" dirty="0"/>
          </a:p>
          <a:p>
            <a:r>
              <a:rPr lang="en-US" dirty="0"/>
              <a:t>The distribution of order totals helps identify typical order values as well as unusually high or low orders.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646A0A-46D1-3423-6B04-F36DCD70F8AF}"/>
              </a:ext>
            </a:extLst>
          </p:cNvPr>
          <p:cNvSpPr/>
          <p:nvPr/>
        </p:nvSpPr>
        <p:spPr>
          <a:xfrm>
            <a:off x="0" y="0"/>
            <a:ext cx="12363061" cy="17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B33544-139F-2087-8CA3-87910285D464}"/>
              </a:ext>
            </a:extLst>
          </p:cNvPr>
          <p:cNvSpPr/>
          <p:nvPr/>
        </p:nvSpPr>
        <p:spPr>
          <a:xfrm>
            <a:off x="0" y="6660444"/>
            <a:ext cx="12192000" cy="17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778508"/>
      </p:ext>
    </p:extLst>
  </p:cSld>
  <p:clrMapOvr>
    <a:masterClrMapping/>
  </p:clrMapOvr>
  <p:transition spd="slow">
    <p:cover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C3A66-3775-6AA0-2A30-E7D5ACAC1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53358E-8F27-6ACE-820C-ECD8715C4031}"/>
              </a:ext>
            </a:extLst>
          </p:cNvPr>
          <p:cNvSpPr txBox="1"/>
          <p:nvPr/>
        </p:nvSpPr>
        <p:spPr>
          <a:xfrm>
            <a:off x="380456" y="309578"/>
            <a:ext cx="111897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Insight 2 — Delivery Distance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distance_km</a:t>
            </a:r>
            <a:r>
              <a:rPr lang="en-US" dirty="0"/>
              <a:t> analysis shows that delivery distances vary between orders.</a:t>
            </a:r>
          </a:p>
          <a:p>
            <a:endParaRPr lang="en-US" dirty="0"/>
          </a:p>
          <a:p>
            <a:r>
              <a:rPr lang="en-US" dirty="0"/>
              <a:t>Most orders may be concentrated within shorter delivery ranges, while a smaller number of orders may involve longer distances.</a:t>
            </a:r>
          </a:p>
          <a:p>
            <a:endParaRPr lang="en-US" dirty="0"/>
          </a:p>
          <a:p>
            <a:r>
              <a:rPr lang="en-US" dirty="0"/>
              <a:t>The box plot and histogram can be used to identify these differences and possible outliers.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078F7-A23E-F8AC-BA13-B07C21EF511E}"/>
              </a:ext>
            </a:extLst>
          </p:cNvPr>
          <p:cNvSpPr/>
          <p:nvPr/>
        </p:nvSpPr>
        <p:spPr>
          <a:xfrm>
            <a:off x="0" y="0"/>
            <a:ext cx="12192000" cy="2146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3C96E1-2E6F-2E9E-A38C-C524B36D96D8}"/>
              </a:ext>
            </a:extLst>
          </p:cNvPr>
          <p:cNvSpPr/>
          <p:nvPr/>
        </p:nvSpPr>
        <p:spPr>
          <a:xfrm>
            <a:off x="0" y="6626578"/>
            <a:ext cx="12192000" cy="2146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94351"/>
      </p:ext>
    </p:extLst>
  </p:cSld>
  <p:clrMapOvr>
    <a:masterClrMapping/>
  </p:clrMapOvr>
  <p:transition spd="slow">
    <p:cover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0233C-C6CC-3382-5B88-D0EE2E51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DF587-2FF9-BD93-5D4A-A3C85F188DF7}"/>
              </a:ext>
            </a:extLst>
          </p:cNvPr>
          <p:cNvSpPr txBox="1"/>
          <p:nvPr/>
        </p:nvSpPr>
        <p:spPr>
          <a:xfrm>
            <a:off x="482860" y="471110"/>
            <a:ext cx="96128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Insight 3 — Delivery Time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dirty="0" err="1"/>
              <a:t>actual_delivery_time_minutes</a:t>
            </a:r>
            <a:r>
              <a:rPr lang="en-IN" dirty="0"/>
              <a:t> column provides an important measure of delivery performance.</a:t>
            </a:r>
          </a:p>
          <a:p>
            <a:endParaRPr lang="en-IN" dirty="0"/>
          </a:p>
          <a:p>
            <a:r>
              <a:rPr lang="en-IN" dirty="0"/>
              <a:t>Orders with unusually high delivery times may require additional investigation because they could be associated with longer distances, higher preparation times, or other operational factors.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3699B-D73E-489C-9DA6-16BF161ED242}"/>
              </a:ext>
            </a:extLst>
          </p:cNvPr>
          <p:cNvSpPr/>
          <p:nvPr/>
        </p:nvSpPr>
        <p:spPr>
          <a:xfrm>
            <a:off x="0" y="0"/>
            <a:ext cx="12192000" cy="2332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2CFE55-B42D-765A-5E77-3D145B4AB46A}"/>
              </a:ext>
            </a:extLst>
          </p:cNvPr>
          <p:cNvSpPr/>
          <p:nvPr/>
        </p:nvSpPr>
        <p:spPr>
          <a:xfrm>
            <a:off x="0" y="6671733"/>
            <a:ext cx="12192000" cy="1862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339402"/>
      </p:ext>
    </p:extLst>
  </p:cSld>
  <p:clrMapOvr>
    <a:masterClrMapping/>
  </p:clrMapOvr>
  <p:transition spd="slow">
    <p:cover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D131-3B59-262B-97D5-1E59B649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18B471-09F0-00AF-0A10-22176C89C3B0}"/>
              </a:ext>
            </a:extLst>
          </p:cNvPr>
          <p:cNvSpPr txBox="1"/>
          <p:nvPr/>
        </p:nvSpPr>
        <p:spPr>
          <a:xfrm>
            <a:off x="342899" y="508433"/>
            <a:ext cx="85491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Insight 4 — </a:t>
            </a:r>
          </a:p>
          <a:p>
            <a:endParaRPr lang="en-IN" dirty="0"/>
          </a:p>
          <a:p>
            <a:r>
              <a:rPr lang="en-IN" dirty="0"/>
              <a:t>Restaurant Preparation Time</a:t>
            </a:r>
          </a:p>
          <a:p>
            <a:endParaRPr lang="en-IN" dirty="0"/>
          </a:p>
          <a:p>
            <a:r>
              <a:rPr lang="en-IN" dirty="0"/>
              <a:t>Restaurant preparation time contributes to the overall delivery process.</a:t>
            </a:r>
          </a:p>
          <a:p>
            <a:endParaRPr lang="en-IN" dirty="0"/>
          </a:p>
          <a:p>
            <a:r>
              <a:rPr lang="en-IN" dirty="0"/>
              <a:t>Orders requiring more preparation time may take longer to reach customers.</a:t>
            </a:r>
          </a:p>
          <a:p>
            <a:endParaRPr lang="en-IN" dirty="0"/>
          </a:p>
          <a:p>
            <a:r>
              <a:rPr lang="en-IN" dirty="0"/>
              <a:t>Comparing preparation time with actual delivery time can help identify whether restaurant preparation is an important factor in delivery performance.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C2597-ADC4-72C6-175A-C0DE07792A21}"/>
              </a:ext>
            </a:extLst>
          </p:cNvPr>
          <p:cNvSpPr/>
          <p:nvPr/>
        </p:nvSpPr>
        <p:spPr>
          <a:xfrm>
            <a:off x="0" y="0"/>
            <a:ext cx="12192000" cy="2596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C60E62-47F4-8E98-6F78-A9CEF1C6F263}"/>
              </a:ext>
            </a:extLst>
          </p:cNvPr>
          <p:cNvSpPr/>
          <p:nvPr/>
        </p:nvSpPr>
        <p:spPr>
          <a:xfrm>
            <a:off x="0" y="6683022"/>
            <a:ext cx="12192000" cy="1749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98063"/>
      </p:ext>
    </p:extLst>
  </p:cSld>
  <p:clrMapOvr>
    <a:masterClrMapping/>
  </p:clrMapOvr>
  <p:transition spd="slow">
    <p:cover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4EA5-AB80-E74F-EBF4-1E7682FA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729BDF-E915-8665-B0B3-8542FF8F9E2A}"/>
              </a:ext>
            </a:extLst>
          </p:cNvPr>
          <p:cNvSpPr txBox="1"/>
          <p:nvPr/>
        </p:nvSpPr>
        <p:spPr>
          <a:xfrm>
            <a:off x="529513" y="467085"/>
            <a:ext cx="10340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Insight 5 — Customer Ratings</a:t>
            </a:r>
          </a:p>
          <a:p>
            <a:endParaRPr lang="en-IN" dirty="0"/>
          </a:p>
          <a:p>
            <a:r>
              <a:rPr lang="en-IN" dirty="0"/>
              <a:t>Customer ratings provide an indication of customer satisfaction.</a:t>
            </a:r>
          </a:p>
          <a:p>
            <a:endParaRPr lang="en-IN" dirty="0"/>
          </a:p>
          <a:p>
            <a:r>
              <a:rPr lang="en-IN" dirty="0"/>
              <a:t>The distribution of ratings helps identify whether customers generally provide positive ratings or whether there are a significant number of lower-rated orders.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694EE-6C67-2861-ACA9-3F76C57ADBBD}"/>
              </a:ext>
            </a:extLst>
          </p:cNvPr>
          <p:cNvSpPr/>
          <p:nvPr/>
        </p:nvSpPr>
        <p:spPr>
          <a:xfrm>
            <a:off x="0" y="0"/>
            <a:ext cx="12260424" cy="23326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274CE1-CFB7-5366-3139-99F2BB1276E9}"/>
              </a:ext>
            </a:extLst>
          </p:cNvPr>
          <p:cNvSpPr/>
          <p:nvPr/>
        </p:nvSpPr>
        <p:spPr>
          <a:xfrm>
            <a:off x="0" y="6671733"/>
            <a:ext cx="12260424" cy="1862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63837"/>
      </p:ext>
    </p:extLst>
  </p:cSld>
  <p:clrMapOvr>
    <a:masterClrMapping/>
  </p:clrMapOvr>
  <p:transition spd="slow">
    <p:cover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06DD7-488E-19BA-DACE-C6F1CFE2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0DDCE6-0EE6-846A-FE73-AF6C2F9DA74F}"/>
              </a:ext>
            </a:extLst>
          </p:cNvPr>
          <p:cNvSpPr txBox="1"/>
          <p:nvPr/>
        </p:nvSpPr>
        <p:spPr>
          <a:xfrm>
            <a:off x="643813" y="345233"/>
            <a:ext cx="10340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Insight 6 — Delivery Fees</a:t>
            </a:r>
          </a:p>
          <a:p>
            <a:endParaRPr lang="en-US" dirty="0"/>
          </a:p>
          <a:p>
            <a:r>
              <a:rPr lang="en-US" dirty="0"/>
              <a:t>Delivery fees vary between orders.</a:t>
            </a:r>
          </a:p>
          <a:p>
            <a:endParaRPr lang="en-US" dirty="0"/>
          </a:p>
          <a:p>
            <a:r>
              <a:rPr lang="en-US" dirty="0"/>
              <a:t>Analyzing delivery fees helps understand the additional cost paid by customers and whether delivery charges differ across orders.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0C4035-2F9A-32F5-0758-4349AFDC15CC}"/>
              </a:ext>
            </a:extLst>
          </p:cNvPr>
          <p:cNvSpPr/>
          <p:nvPr/>
        </p:nvSpPr>
        <p:spPr>
          <a:xfrm>
            <a:off x="0" y="0"/>
            <a:ext cx="12192000" cy="21448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BDC2A-E7C1-03EE-CD25-E1D969162992}"/>
              </a:ext>
            </a:extLst>
          </p:cNvPr>
          <p:cNvSpPr/>
          <p:nvPr/>
        </p:nvSpPr>
        <p:spPr>
          <a:xfrm>
            <a:off x="0" y="6660444"/>
            <a:ext cx="12192000" cy="19755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81335"/>
      </p:ext>
    </p:extLst>
  </p:cSld>
  <p:clrMapOvr>
    <a:masterClrMapping/>
  </p:clrMapOvr>
  <p:transition spd="slow">
    <p:cover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B55C-5A94-0B99-4E3D-C9F27839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98EB57-8A15-6375-9DF0-7C6223C51704}"/>
              </a:ext>
            </a:extLst>
          </p:cNvPr>
          <p:cNvSpPr txBox="1"/>
          <p:nvPr/>
        </p:nvSpPr>
        <p:spPr>
          <a:xfrm>
            <a:off x="643813" y="455655"/>
            <a:ext cx="103406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Insight 7 — Tips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tip_amount</a:t>
            </a:r>
            <a:r>
              <a:rPr lang="en-US" dirty="0"/>
              <a:t> column provides information about customer tipping behavior.</a:t>
            </a:r>
          </a:p>
          <a:p>
            <a:endParaRPr lang="en-US" dirty="0"/>
          </a:p>
          <a:p>
            <a:r>
              <a:rPr lang="en-US" dirty="0"/>
              <a:t>Comparing tips with order totals can help understand whether customers tend to provide higher tips for higher-value orders.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C1E382-37C9-59B0-AAEC-6A107369E582}"/>
              </a:ext>
            </a:extLst>
          </p:cNvPr>
          <p:cNvSpPr/>
          <p:nvPr/>
        </p:nvSpPr>
        <p:spPr>
          <a:xfrm>
            <a:off x="0" y="0"/>
            <a:ext cx="12279086" cy="13062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E6B3C6-A067-CE33-E471-FE7D4ECABDA2}"/>
              </a:ext>
            </a:extLst>
          </p:cNvPr>
          <p:cNvSpPr/>
          <p:nvPr/>
        </p:nvSpPr>
        <p:spPr>
          <a:xfrm>
            <a:off x="-80010" y="6697980"/>
            <a:ext cx="12279086" cy="1600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129504"/>
      </p:ext>
    </p:extLst>
  </p:cSld>
  <p:clrMapOvr>
    <a:masterClrMapping/>
  </p:clrMapOvr>
  <p:transition spd="slow">
    <p:cover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A5E6-E99F-726C-0116-59174E73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FE4BA-C461-E334-8122-93893A318CFF}"/>
              </a:ext>
            </a:extLst>
          </p:cNvPr>
          <p:cNvSpPr txBox="1"/>
          <p:nvPr/>
        </p:nvSpPr>
        <p:spPr>
          <a:xfrm>
            <a:off x="529513" y="375645"/>
            <a:ext cx="103406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Insight 8 — Distance and Delivery Time Relationship</a:t>
            </a:r>
          </a:p>
          <a:p>
            <a:endParaRPr lang="en-US" dirty="0"/>
          </a:p>
          <a:p>
            <a:r>
              <a:rPr lang="en-US" dirty="0"/>
              <a:t>The relationship between </a:t>
            </a:r>
            <a:r>
              <a:rPr lang="en-US" dirty="0" err="1"/>
              <a:t>distance_km</a:t>
            </a:r>
            <a:r>
              <a:rPr lang="en-US" dirty="0"/>
              <a:t> and </a:t>
            </a:r>
            <a:r>
              <a:rPr lang="en-US" dirty="0" err="1"/>
              <a:t>actual_delivery_time_minutes</a:t>
            </a:r>
            <a:r>
              <a:rPr lang="en-US" dirty="0"/>
              <a:t> can be studied using a scatter plot.</a:t>
            </a:r>
          </a:p>
          <a:p>
            <a:endParaRPr lang="en-US" dirty="0"/>
          </a:p>
          <a:p>
            <a:r>
              <a:rPr lang="en-US" dirty="0"/>
              <a:t>If the points show an upward pattern, it suggests that longer delivery distances tend to be associated with longer delivery </a:t>
            </a:r>
            <a:r>
              <a:rPr lang="en-US" dirty="0" err="1"/>
              <a:t>times.However</a:t>
            </a:r>
            <a:r>
              <a:rPr lang="en-US" dirty="0"/>
              <a:t>, distance alone does not explain every difference in delivery time.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B1D66E-5147-B408-4C47-0F55951C7865}"/>
              </a:ext>
            </a:extLst>
          </p:cNvPr>
          <p:cNvSpPr/>
          <p:nvPr/>
        </p:nvSpPr>
        <p:spPr>
          <a:xfrm>
            <a:off x="0" y="0"/>
            <a:ext cx="12307078" cy="24259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4434F-A234-1516-348D-C874D685DD9E}"/>
              </a:ext>
            </a:extLst>
          </p:cNvPr>
          <p:cNvSpPr/>
          <p:nvPr/>
        </p:nvSpPr>
        <p:spPr>
          <a:xfrm>
            <a:off x="0" y="6663690"/>
            <a:ext cx="12192000" cy="1943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87551"/>
      </p:ext>
    </p:extLst>
  </p:cSld>
  <p:clrMapOvr>
    <a:masterClrMapping/>
  </p:clrMapOvr>
  <p:transition spd="slow">
    <p:cover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3DCE7-126C-F88B-85D5-0C1B67C52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423E66-529E-3175-3EF8-E94891D7187C}"/>
              </a:ext>
            </a:extLst>
          </p:cNvPr>
          <p:cNvSpPr txBox="1"/>
          <p:nvPr/>
        </p:nvSpPr>
        <p:spPr>
          <a:xfrm>
            <a:off x="1259633" y="79310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9D347-8E8C-A14B-1B31-0158BB12AED2}"/>
              </a:ext>
            </a:extLst>
          </p:cNvPr>
          <p:cNvSpPr txBox="1"/>
          <p:nvPr/>
        </p:nvSpPr>
        <p:spPr>
          <a:xfrm>
            <a:off x="303712" y="335280"/>
            <a:ext cx="109751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Insight 9 — </a:t>
            </a:r>
          </a:p>
          <a:p>
            <a:endParaRPr lang="en-IN" dirty="0"/>
          </a:p>
          <a:p>
            <a:r>
              <a:rPr lang="en-IN" dirty="0"/>
              <a:t>Preparation Time and Delivery Time</a:t>
            </a:r>
          </a:p>
          <a:p>
            <a:endParaRPr lang="en-IN" dirty="0"/>
          </a:p>
          <a:p>
            <a:r>
              <a:rPr lang="en-IN" dirty="0"/>
              <a:t>Restaurant preparation time can also be compared with actual delivery time.</a:t>
            </a:r>
          </a:p>
          <a:p>
            <a:endParaRPr lang="en-IN" dirty="0"/>
          </a:p>
          <a:p>
            <a:r>
              <a:rPr lang="en-IN" dirty="0"/>
              <a:t>This analysis helps determine whether delays may be related to the time required to prepare food.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419C74-BC2C-CF5D-0AC4-993BBDC0C81D}"/>
              </a:ext>
            </a:extLst>
          </p:cNvPr>
          <p:cNvSpPr/>
          <p:nvPr/>
        </p:nvSpPr>
        <p:spPr>
          <a:xfrm>
            <a:off x="1" y="-160020"/>
            <a:ext cx="12192000" cy="4953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BDFA9-1439-D607-BB60-36ED6A14775D}"/>
              </a:ext>
            </a:extLst>
          </p:cNvPr>
          <p:cNvSpPr/>
          <p:nvPr/>
        </p:nvSpPr>
        <p:spPr>
          <a:xfrm>
            <a:off x="1" y="6617970"/>
            <a:ext cx="12192000" cy="2400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196911"/>
      </p:ext>
    </p:extLst>
  </p:cSld>
  <p:clrMapOvr>
    <a:masterClrMapping/>
  </p:clrMapOvr>
  <p:transition spd="slow">
    <p:cover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4F89-9DA7-890E-5DCE-C1651372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3AFFCC-27EF-30A3-AE50-5EE1BC0A5929}"/>
              </a:ext>
            </a:extLst>
          </p:cNvPr>
          <p:cNvSpPr txBox="1"/>
          <p:nvPr/>
        </p:nvSpPr>
        <p:spPr>
          <a:xfrm>
            <a:off x="492189" y="480388"/>
            <a:ext cx="1208547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Insight 10 — Correlation Between Numerical Variables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correlation heatmap provides a quick overview of relationships among numerical variables such as:</a:t>
            </a:r>
          </a:p>
          <a:p>
            <a:endParaRPr lang="en-IN" dirty="0"/>
          </a:p>
          <a:p>
            <a:r>
              <a:rPr lang="en-IN" dirty="0"/>
              <a:t>Order total</a:t>
            </a:r>
          </a:p>
          <a:p>
            <a:endParaRPr lang="en-IN" dirty="0"/>
          </a:p>
          <a:p>
            <a:r>
              <a:rPr lang="en-IN" dirty="0"/>
              <a:t>Delivery fee</a:t>
            </a:r>
          </a:p>
          <a:p>
            <a:endParaRPr lang="en-IN" dirty="0"/>
          </a:p>
          <a:p>
            <a:r>
              <a:rPr lang="en-IN" dirty="0"/>
              <a:t>Tip amount</a:t>
            </a:r>
          </a:p>
          <a:p>
            <a:endParaRPr lang="en-IN" dirty="0"/>
          </a:p>
          <a:p>
            <a:r>
              <a:rPr lang="en-IN" dirty="0" err="1"/>
              <a:t>DistancePreparation</a:t>
            </a:r>
            <a:r>
              <a:rPr lang="en-IN" dirty="0"/>
              <a:t> time</a:t>
            </a:r>
          </a:p>
          <a:p>
            <a:endParaRPr lang="en-IN" dirty="0"/>
          </a:p>
          <a:p>
            <a:r>
              <a:rPr lang="en-IN" dirty="0"/>
              <a:t>Delivery time</a:t>
            </a:r>
          </a:p>
          <a:p>
            <a:endParaRPr lang="en-IN" dirty="0"/>
          </a:p>
          <a:p>
            <a:r>
              <a:rPr lang="en-IN" dirty="0"/>
              <a:t>Customer rating</a:t>
            </a:r>
          </a:p>
          <a:p>
            <a:endParaRPr lang="en-IN" dirty="0"/>
          </a:p>
          <a:p>
            <a:r>
              <a:rPr lang="en-IN" dirty="0"/>
              <a:t>Strong correlations can indicate variables that change together, while weak correlations suggest a limited linear </a:t>
            </a:r>
            <a:r>
              <a:rPr lang="en-IN" dirty="0" err="1"/>
              <a:t>relationship.Correlation</a:t>
            </a:r>
            <a:r>
              <a:rPr lang="en-IN" dirty="0"/>
              <a:t> should be interpreted as an association rather than proof of causation.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8497D-5CD0-CE50-C20B-9179CD6323CC}"/>
              </a:ext>
            </a:extLst>
          </p:cNvPr>
          <p:cNvSpPr/>
          <p:nvPr/>
        </p:nvSpPr>
        <p:spPr>
          <a:xfrm>
            <a:off x="0" y="1"/>
            <a:ext cx="12307078" cy="2171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90B0E1-B71A-51C6-DF7D-1DC68E9BED70}"/>
              </a:ext>
            </a:extLst>
          </p:cNvPr>
          <p:cNvSpPr/>
          <p:nvPr/>
        </p:nvSpPr>
        <p:spPr>
          <a:xfrm>
            <a:off x="0" y="6652260"/>
            <a:ext cx="12192000" cy="20573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17695"/>
      </p:ext>
    </p:extLst>
  </p:cSld>
  <p:clrMapOvr>
    <a:masterClrMapping/>
  </p:clrMapOvr>
  <p:transition spd="slow">
    <p:cover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2926F-CC79-BDD7-3453-90F2D453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3A73DA-0600-A0E7-A007-37D74D8CB442}"/>
              </a:ext>
            </a:extLst>
          </p:cNvPr>
          <p:cNvSpPr txBox="1"/>
          <p:nvPr/>
        </p:nvSpPr>
        <p:spPr>
          <a:xfrm>
            <a:off x="595059" y="356174"/>
            <a:ext cx="12085475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Overall Findings</a:t>
            </a:r>
          </a:p>
          <a:p>
            <a:endParaRPr lang="en-US" dirty="0"/>
          </a:p>
          <a:p>
            <a:r>
              <a:rPr lang="en-US" sz="1600" dirty="0"/>
              <a:t>The Food Delivery Orders Dataset provides useful information about customer orders and delivery operations.</a:t>
            </a:r>
          </a:p>
          <a:p>
            <a:endParaRPr lang="en-US" sz="1600" dirty="0"/>
          </a:p>
          <a:p>
            <a:r>
              <a:rPr lang="en-US" sz="1600" dirty="0"/>
              <a:t>The analysis demonstrates that:</a:t>
            </a:r>
          </a:p>
          <a:p>
            <a:endParaRPr lang="en-US" sz="1600" dirty="0"/>
          </a:p>
          <a:p>
            <a:r>
              <a:rPr lang="en-US" sz="1600" dirty="0"/>
              <a:t>Order values vary between customers.</a:t>
            </a:r>
          </a:p>
          <a:p>
            <a:endParaRPr lang="en-US" sz="1600" dirty="0"/>
          </a:p>
          <a:p>
            <a:r>
              <a:rPr lang="en-US" sz="1600" dirty="0"/>
              <a:t>Delivery distances vary considerably.</a:t>
            </a:r>
          </a:p>
          <a:p>
            <a:endParaRPr lang="en-US" sz="1600" dirty="0"/>
          </a:p>
          <a:p>
            <a:r>
              <a:rPr lang="en-US" sz="1600" dirty="0"/>
              <a:t>Delivery time is an important measure of operational performance.</a:t>
            </a:r>
          </a:p>
          <a:p>
            <a:endParaRPr lang="en-US" sz="1600" dirty="0"/>
          </a:p>
          <a:p>
            <a:r>
              <a:rPr lang="en-US" sz="1600" dirty="0"/>
              <a:t>Restaurant preparation time contributes to the overall delivery process.</a:t>
            </a:r>
          </a:p>
          <a:p>
            <a:endParaRPr lang="en-US" sz="1600" dirty="0"/>
          </a:p>
          <a:p>
            <a:r>
              <a:rPr lang="en-US" sz="1600" dirty="0"/>
              <a:t>Customer ratings provide information about customer satisfaction.</a:t>
            </a:r>
          </a:p>
          <a:p>
            <a:endParaRPr lang="en-US" sz="1600" dirty="0"/>
          </a:p>
          <a:p>
            <a:r>
              <a:rPr lang="en-US" sz="1600" dirty="0"/>
              <a:t>Delivery fees and tips provide information about additional customer payments.</a:t>
            </a:r>
          </a:p>
          <a:p>
            <a:endParaRPr lang="en-US" sz="1600" dirty="0"/>
          </a:p>
          <a:p>
            <a:r>
              <a:rPr lang="en-US" sz="1600" dirty="0"/>
              <a:t>Distance and delivery time can be compared to identify possible operational relationships.</a:t>
            </a:r>
          </a:p>
          <a:p>
            <a:endParaRPr lang="en-US" sz="1600" dirty="0"/>
          </a:p>
          <a:p>
            <a:r>
              <a:rPr lang="en-US" sz="1600" dirty="0"/>
              <a:t>Statistical analysis helps summarize the overall characteristics of the dataset.</a:t>
            </a:r>
          </a:p>
          <a:p>
            <a:endParaRPr lang="en-US" sz="1600" dirty="0"/>
          </a:p>
          <a:p>
            <a:r>
              <a:rPr lang="en-US" sz="1600" dirty="0"/>
              <a:t>Visualization makes patterns, distributions</a:t>
            </a:r>
            <a:r>
              <a:rPr lang="en-US" dirty="0"/>
              <a:t>, and relationships easier to understand.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FA4CBB-6ECE-DE00-CCCC-6129B5BB2CA2}"/>
              </a:ext>
            </a:extLst>
          </p:cNvPr>
          <p:cNvSpPr/>
          <p:nvPr/>
        </p:nvSpPr>
        <p:spPr>
          <a:xfrm>
            <a:off x="0" y="0"/>
            <a:ext cx="12268200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7A0F1B-9BF5-BB22-B1BC-1890C251A5D0}"/>
              </a:ext>
            </a:extLst>
          </p:cNvPr>
          <p:cNvSpPr/>
          <p:nvPr/>
        </p:nvSpPr>
        <p:spPr>
          <a:xfrm>
            <a:off x="0" y="6617970"/>
            <a:ext cx="12192000" cy="31432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156047"/>
      </p:ext>
    </p:extLst>
  </p:cSld>
  <p:clrMapOvr>
    <a:masterClrMapping/>
  </p:clrMapOvr>
  <p:transition spd="slow">
    <p:cover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320040"/>
            <a:ext cx="24513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14.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The project demonstrates an end-to-end data analysis workflow using Python.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The dataset was explored, cleaned, transformed and statistically analyzed.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Different visualizations were used to communicate patterns and relationships.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The analysis provides insights into customer orders and delivery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• The project demonstrates practical use of Pandas, NumPy, Matplotlib and Seaborn for real-world 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FEFF67-F9E7-B1B0-8D97-CCE2169F077E}"/>
              </a:ext>
            </a:extLst>
          </p:cNvPr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 spd="slow">
    <p:cover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BA76-83AD-D1A8-A00A-A8BC3BF06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64916-3A0A-B77A-8855-1D31409D32F2}"/>
              </a:ext>
            </a:extLst>
          </p:cNvPr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34542-7E24-7344-6E3B-566C1DC45AB1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69250-A76E-BA69-729C-B8BF282B2CA4}"/>
              </a:ext>
            </a:extLst>
          </p:cNvPr>
          <p:cNvSpPr txBox="1"/>
          <p:nvPr/>
        </p:nvSpPr>
        <p:spPr>
          <a:xfrm>
            <a:off x="4991878" y="3132180"/>
            <a:ext cx="1586204" cy="36933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127000">
              <a:schemeClr val="accent1">
                <a:lumMod val="20000"/>
                <a:lumOff val="80000"/>
              </a:schemeClr>
            </a:glow>
            <a:outerShdw blurRad="50800" dist="50800" dir="5400000" algn="ctr" rotWithShape="0">
              <a:schemeClr val="accent3">
                <a:lumMod val="20000"/>
                <a:lumOff val="80000"/>
              </a:scheme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4B7EDA-A24D-2DBD-E929-6A9EC2F1B16A}"/>
              </a:ext>
            </a:extLst>
          </p:cNvPr>
          <p:cNvSpPr/>
          <p:nvPr/>
        </p:nvSpPr>
        <p:spPr>
          <a:xfrm>
            <a:off x="0" y="6675120"/>
            <a:ext cx="12401550" cy="3693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46322"/>
      </p:ext>
    </p:extLst>
  </p:cSld>
  <p:clrMapOvr>
    <a:masterClrMapping/>
  </p:clrMapOvr>
  <p:transition spd="slow">
    <p:cover dir="r"/>
  </p:transition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1167</TotalTime>
  <Words>3435</Words>
  <Application>Microsoft Office PowerPoint</Application>
  <PresentationFormat>Widescreen</PresentationFormat>
  <Paragraphs>575</Paragraphs>
  <Slides>51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Abadi</vt:lpstr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johann abraham</cp:lastModifiedBy>
  <cp:revision>126</cp:revision>
  <dcterms:created xsi:type="dcterms:W3CDTF">2013-01-27T09:14:16Z</dcterms:created>
  <dcterms:modified xsi:type="dcterms:W3CDTF">2026-10-08T17:04:33Z</dcterms:modified>
  <cp:category/>
</cp:coreProperties>
</file>